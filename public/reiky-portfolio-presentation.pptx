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introducing Reiky Aryanando Pratama as Backend &amp; Full-Stack Developer with current internship at BSI UII.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 background highlighting education, GPA 3.81, role at Badan Sistem Informasi UII, and published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technical competencies organized into Backend, Web Interfaces, Mobile Engineering, and Data/Cloud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on OpsFlow: internal IT service desk platform with Laravel, React, TypeScript, and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on Kizen: Flutter manga reader app with Riverpod state management and Firebase synchronization.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on Park Masjid: IoT vehicle counter and Android app thesis published in Technologia Jurnal Ilmiah.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Dual case study presenting OrderForge commerce reliability engine and Katalog Komik native Android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on MoneyTrack: offline-first personal finance application with React Native, Expo, and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Supplementary archive showcasing JiwaKu mental wellness app and an Enterprise Client Web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Chronological career progression from university distinction to AWS certification and active backend engineering internship at BSI UII.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with direct email, LinkedIn, GitHub, and live website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10"/>
        </a:solidFill>
      </p:bgPr>
    </p:bg>
    <p:spTree>
      <p:nvGrpSpPr>
        <p:cNvPr id="1" name=""/>
        <p:cNvGrpSpPr/>
        <p:nvPr/>
      </p:nvGrpSpPr>
      <p:grpSpPr>
        <a:xfrm>
          <a:off x="0" y="0"/>
          <a:ext cx="0" cy="0"/>
          <a:chOff x="0" y="0"/>
          <a:chExt cx="0" cy="0"/>
        </a:xfrm>
      </p:grpSpPr>
      <p:sp>
        <p:nvSpPr>
          <p:cNvPr id="2" name="Shape 0"/>
          <p:cNvSpPr/>
          <p:nvPr/>
        </p:nvSpPr>
        <p:spPr>
          <a:xfrm>
            <a:off x="731520" y="640080"/>
            <a:ext cx="10728655" cy="5577840"/>
          </a:xfrm>
          <a:prstGeom prst="roundRect">
            <a:avLst>
              <a:gd name="adj" fmla="val 2951"/>
            </a:avLst>
          </a:prstGeom>
          <a:solidFill>
            <a:srgbClr val="13261C"/>
          </a:solidFill>
          <a:ln w="12700">
            <a:solidFill>
              <a:srgbClr val="213E2E"/>
            </a:solidFill>
            <a:prstDash val="solid"/>
          </a:ln>
        </p:spPr>
      </p:sp>
      <p:sp>
        <p:nvSpPr>
          <p:cNvPr id="3" name="Shape 1"/>
          <p:cNvSpPr/>
          <p:nvPr/>
        </p:nvSpPr>
        <p:spPr>
          <a:xfrm>
            <a:off x="1188720" y="1051560"/>
            <a:ext cx="3474720" cy="329184"/>
          </a:xfrm>
          <a:prstGeom prst="roundRect">
            <a:avLst>
              <a:gd name="adj" fmla="val 50000"/>
            </a:avLst>
          </a:prstGeom>
          <a:solidFill>
            <a:srgbClr val="1C382B"/>
          </a:solidFill>
          <a:ln w="12700">
            <a:solidFill>
              <a:srgbClr val="2E5B45"/>
            </a:solidFill>
            <a:prstDash val="solid"/>
          </a:ln>
        </p:spPr>
      </p:sp>
      <p:sp>
        <p:nvSpPr>
          <p:cNvPr id="4" name="Text 2"/>
          <p:cNvSpPr/>
          <p:nvPr/>
        </p:nvSpPr>
        <p:spPr>
          <a:xfrm>
            <a:off x="1188720" y="1051560"/>
            <a:ext cx="3474720" cy="329184"/>
          </a:xfrm>
          <a:prstGeom prst="rect">
            <a:avLst/>
          </a:prstGeom>
          <a:noFill/>
          <a:ln/>
        </p:spPr>
        <p:txBody>
          <a:bodyPr wrap="square" lIns="0" tIns="0" rIns="0" bIns="0" rtlCol="0" anchor="ctr"/>
          <a:lstStyle/>
          <a:p>
            <a:pPr algn="ctr" indent="0" marL="0">
              <a:buNone/>
            </a:pPr>
            <a:r>
              <a:rPr lang="en-US" sz="850" b="1" dirty="0">
                <a:solidFill>
                  <a:srgbClr val="6EE7B7"/>
                </a:solidFill>
                <a:latin typeface="Calibri" pitchFamily="34" charset="0"/>
                <a:ea typeface="Calibri" pitchFamily="34" charset="-122"/>
                <a:cs typeface="Calibri" pitchFamily="34" charset="-120"/>
              </a:rPr>
              <a:t>ENGINEER PORTFOLIO &amp; EXECUTIVE PRESENTATION · 2026</a:t>
            </a:r>
            <a:endParaRPr lang="en-US" sz="850" dirty="0"/>
          </a:p>
        </p:txBody>
      </p:sp>
      <p:sp>
        <p:nvSpPr>
          <p:cNvPr id="5" name="Text 3"/>
          <p:cNvSpPr/>
          <p:nvPr/>
        </p:nvSpPr>
        <p:spPr>
          <a:xfrm>
            <a:off x="1188720" y="1554480"/>
            <a:ext cx="6583680" cy="82296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Reiky Aryanando Pratama</a:t>
            </a:r>
            <a:endParaRPr lang="en-US" sz="3800" dirty="0"/>
          </a:p>
        </p:txBody>
      </p:sp>
      <p:sp>
        <p:nvSpPr>
          <p:cNvPr id="6" name="Text 4"/>
          <p:cNvSpPr/>
          <p:nvPr/>
        </p:nvSpPr>
        <p:spPr>
          <a:xfrm>
            <a:off x="1188720" y="2423160"/>
            <a:ext cx="6583680" cy="411480"/>
          </a:xfrm>
          <a:prstGeom prst="rect">
            <a:avLst/>
          </a:prstGeom>
          <a:noFill/>
          <a:ln/>
        </p:spPr>
        <p:txBody>
          <a:bodyPr wrap="square" lIns="0" tIns="0" rIns="0" bIns="0" rtlCol="0" anchor="t"/>
          <a:lstStyle/>
          <a:p>
            <a:pPr indent="0" marL="0">
              <a:buNone/>
            </a:pPr>
            <a:r>
              <a:rPr lang="en-US" sz="1600" b="1" dirty="0">
                <a:solidFill>
                  <a:srgbClr val="10B981"/>
                </a:solidFill>
                <a:latin typeface="Calibri" pitchFamily="34" charset="0"/>
                <a:ea typeface="Calibri" pitchFamily="34" charset="-122"/>
                <a:cs typeface="Calibri" pitchFamily="34" charset="-120"/>
              </a:rPr>
              <a:t>Junior Backend &amp; Full-Stack Developer · REST APIs · Web &amp; Mobile</a:t>
            </a:r>
            <a:endParaRPr lang="en-US" sz="1600" dirty="0"/>
          </a:p>
        </p:txBody>
      </p:sp>
      <p:sp>
        <p:nvSpPr>
          <p:cNvPr id="7" name="Text 5"/>
          <p:cNvSpPr/>
          <p:nvPr/>
        </p:nvSpPr>
        <p:spPr>
          <a:xfrm>
            <a:off x="1188720" y="2971800"/>
            <a:ext cx="6217920" cy="1097280"/>
          </a:xfrm>
          <a:prstGeom prst="rect">
            <a:avLst/>
          </a:prstGeom>
          <a:noFill/>
          <a:ln/>
        </p:spPr>
        <p:txBody>
          <a:bodyPr wrap="square" lIns="0" tIns="0" rIns="0" bIns="0" rtlCol="0" anchor="ctr"/>
          <a:lstStyle/>
          <a:p>
            <a:pPr indent="0" marL="0">
              <a:lnSpc>
                <a:spcPct val="120000"/>
              </a:lnSpc>
              <a:buNone/>
            </a:pPr>
            <a:r>
              <a:rPr lang="en-US" sz="1300" dirty="0">
                <a:solidFill>
                  <a:srgbClr val="A3B8AD"/>
                </a:solidFill>
                <a:latin typeface="Calibri" pitchFamily="34" charset="0"/>
                <a:ea typeface="Calibri" pitchFamily="34" charset="-122"/>
                <a:cs typeface="Calibri" pitchFamily="34" charset="-120"/>
              </a:rPr>
              <a:t>Informatics graduate (GPA 3.81 / 4.00) &amp; Backend Developer Intern at Badan Sistem Informasi Universitas Islam Indonesia. Building clean REST APIs, understanding relational database design, and developing practical web &amp; mobile applications across Laravel, Go, Flutter, and React.</a:t>
            </a:r>
            <a:endParaRPr lang="en-US" sz="1300" dirty="0"/>
          </a:p>
        </p:txBody>
      </p:sp>
      <p:sp>
        <p:nvSpPr>
          <p:cNvPr id="8" name="Shape 6"/>
          <p:cNvSpPr/>
          <p:nvPr/>
        </p:nvSpPr>
        <p:spPr>
          <a:xfrm>
            <a:off x="1188720" y="4343400"/>
            <a:ext cx="1965960" cy="658368"/>
          </a:xfrm>
          <a:prstGeom prst="roundRect">
            <a:avLst>
              <a:gd name="adj" fmla="val 16667"/>
            </a:avLst>
          </a:prstGeom>
          <a:solidFill>
            <a:srgbClr val="182E22"/>
          </a:solidFill>
          <a:ln w="12700">
            <a:solidFill>
              <a:srgbClr val="284B38"/>
            </a:solidFill>
            <a:prstDash val="solid"/>
          </a:ln>
        </p:spPr>
      </p:sp>
      <p:sp>
        <p:nvSpPr>
          <p:cNvPr id="9" name="Text 7"/>
          <p:cNvSpPr/>
          <p:nvPr/>
        </p:nvSpPr>
        <p:spPr>
          <a:xfrm>
            <a:off x="1298448" y="4407408"/>
            <a:ext cx="1737360" cy="201168"/>
          </a:xfrm>
          <a:prstGeom prst="rect">
            <a:avLst/>
          </a:prstGeom>
          <a:noFill/>
          <a:ln/>
        </p:spPr>
        <p:txBody>
          <a:bodyPr wrap="square" lIns="0" tIns="0" rIns="0" bIns="0" rtlCol="0" anchor="ctr"/>
          <a:lstStyle/>
          <a:p>
            <a:pPr indent="0" marL="0">
              <a:buNone/>
            </a:pPr>
            <a:r>
              <a:rPr lang="en-US" sz="750" b="1" dirty="0">
                <a:solidFill>
                  <a:srgbClr val="6EE7B7"/>
                </a:solidFill>
                <a:latin typeface="Calibri" pitchFamily="34" charset="0"/>
                <a:ea typeface="Calibri" pitchFamily="34" charset="-122"/>
                <a:cs typeface="Calibri" pitchFamily="34" charset="-120"/>
              </a:rPr>
              <a:t>EMAIL</a:t>
            </a:r>
            <a:endParaRPr lang="en-US" sz="750" dirty="0"/>
          </a:p>
        </p:txBody>
      </p:sp>
      <p:sp>
        <p:nvSpPr>
          <p:cNvPr id="10" name="Text 8"/>
          <p:cNvSpPr/>
          <p:nvPr/>
        </p:nvSpPr>
        <p:spPr>
          <a:xfrm>
            <a:off x="1298448" y="4626864"/>
            <a:ext cx="1737360" cy="29260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reikyranp@gmail.com</a:t>
            </a:r>
            <a:endParaRPr lang="en-US" sz="950" dirty="0"/>
          </a:p>
        </p:txBody>
      </p:sp>
      <p:sp>
        <p:nvSpPr>
          <p:cNvPr id="11" name="Shape 9"/>
          <p:cNvSpPr/>
          <p:nvPr/>
        </p:nvSpPr>
        <p:spPr>
          <a:xfrm>
            <a:off x="3291840" y="4343400"/>
            <a:ext cx="1965960" cy="658368"/>
          </a:xfrm>
          <a:prstGeom prst="roundRect">
            <a:avLst>
              <a:gd name="adj" fmla="val 16667"/>
            </a:avLst>
          </a:prstGeom>
          <a:solidFill>
            <a:srgbClr val="182E22"/>
          </a:solidFill>
          <a:ln w="12700">
            <a:solidFill>
              <a:srgbClr val="284B38"/>
            </a:solidFill>
            <a:prstDash val="solid"/>
          </a:ln>
        </p:spPr>
      </p:sp>
      <p:sp>
        <p:nvSpPr>
          <p:cNvPr id="12" name="Text 10"/>
          <p:cNvSpPr/>
          <p:nvPr/>
        </p:nvSpPr>
        <p:spPr>
          <a:xfrm>
            <a:off x="3401568" y="4407408"/>
            <a:ext cx="1737360" cy="201168"/>
          </a:xfrm>
          <a:prstGeom prst="rect">
            <a:avLst/>
          </a:prstGeom>
          <a:noFill/>
          <a:ln/>
        </p:spPr>
        <p:txBody>
          <a:bodyPr wrap="square" lIns="0" tIns="0" rIns="0" bIns="0" rtlCol="0" anchor="ctr"/>
          <a:lstStyle/>
          <a:p>
            <a:pPr indent="0" marL="0">
              <a:buNone/>
            </a:pPr>
            <a:r>
              <a:rPr lang="en-US" sz="750" b="1" dirty="0">
                <a:solidFill>
                  <a:srgbClr val="6EE7B7"/>
                </a:solidFill>
                <a:latin typeface="Calibri" pitchFamily="34" charset="0"/>
                <a:ea typeface="Calibri" pitchFamily="34" charset="-122"/>
                <a:cs typeface="Calibri" pitchFamily="34" charset="-120"/>
              </a:rPr>
              <a:t>LOCATION</a:t>
            </a:r>
            <a:endParaRPr lang="en-US" sz="750" dirty="0"/>
          </a:p>
        </p:txBody>
      </p:sp>
      <p:sp>
        <p:nvSpPr>
          <p:cNvPr id="13" name="Text 11"/>
          <p:cNvSpPr/>
          <p:nvPr/>
        </p:nvSpPr>
        <p:spPr>
          <a:xfrm>
            <a:off x="3401568" y="4626864"/>
            <a:ext cx="1737360" cy="29260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Yogyakarta, Indonesia (WIB)</a:t>
            </a:r>
            <a:endParaRPr lang="en-US" sz="950" dirty="0"/>
          </a:p>
        </p:txBody>
      </p:sp>
      <p:sp>
        <p:nvSpPr>
          <p:cNvPr id="14" name="Shape 12"/>
          <p:cNvSpPr/>
          <p:nvPr/>
        </p:nvSpPr>
        <p:spPr>
          <a:xfrm>
            <a:off x="5394960" y="4343400"/>
            <a:ext cx="1965960" cy="658368"/>
          </a:xfrm>
          <a:prstGeom prst="roundRect">
            <a:avLst>
              <a:gd name="adj" fmla="val 16667"/>
            </a:avLst>
          </a:prstGeom>
          <a:solidFill>
            <a:srgbClr val="182E22"/>
          </a:solidFill>
          <a:ln w="12700">
            <a:solidFill>
              <a:srgbClr val="284B38"/>
            </a:solidFill>
            <a:prstDash val="solid"/>
          </a:ln>
        </p:spPr>
      </p:sp>
      <p:sp>
        <p:nvSpPr>
          <p:cNvPr id="15" name="Text 13"/>
          <p:cNvSpPr/>
          <p:nvPr/>
        </p:nvSpPr>
        <p:spPr>
          <a:xfrm>
            <a:off x="5504688" y="4407408"/>
            <a:ext cx="1737360" cy="201168"/>
          </a:xfrm>
          <a:prstGeom prst="rect">
            <a:avLst/>
          </a:prstGeom>
          <a:noFill/>
          <a:ln/>
        </p:spPr>
        <p:txBody>
          <a:bodyPr wrap="square" lIns="0" tIns="0" rIns="0" bIns="0" rtlCol="0" anchor="ctr"/>
          <a:lstStyle/>
          <a:p>
            <a:pPr indent="0" marL="0">
              <a:buNone/>
            </a:pPr>
            <a:r>
              <a:rPr lang="en-US" sz="750" b="1" dirty="0">
                <a:solidFill>
                  <a:srgbClr val="6EE7B7"/>
                </a:solidFill>
                <a:latin typeface="Calibri" pitchFamily="34" charset="0"/>
                <a:ea typeface="Calibri" pitchFamily="34" charset="-122"/>
                <a:cs typeface="Calibri" pitchFamily="34" charset="-120"/>
              </a:rPr>
              <a:t>PORTFOLIO</a:t>
            </a:r>
            <a:endParaRPr lang="en-US" sz="750" dirty="0"/>
          </a:p>
        </p:txBody>
      </p:sp>
      <p:sp>
        <p:nvSpPr>
          <p:cNvPr id="16" name="Text 14"/>
          <p:cNvSpPr/>
          <p:nvPr/>
        </p:nvSpPr>
        <p:spPr>
          <a:xfrm>
            <a:off x="5504688" y="4626864"/>
            <a:ext cx="1737360" cy="29260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https://reiky03.github.io</a:t>
            </a:r>
            <a:endParaRPr lang="en-US" sz="950" dirty="0"/>
          </a:p>
        </p:txBody>
      </p:sp>
      <p:sp>
        <p:nvSpPr>
          <p:cNvPr id="17" name="Shape 15"/>
          <p:cNvSpPr/>
          <p:nvPr/>
        </p:nvSpPr>
        <p:spPr>
          <a:xfrm>
            <a:off x="7863840" y="1463040"/>
            <a:ext cx="3108960" cy="4023360"/>
          </a:xfrm>
          <a:prstGeom prst="roundRect">
            <a:avLst>
              <a:gd name="adj" fmla="val 5882"/>
            </a:avLst>
          </a:prstGeom>
          <a:solidFill>
            <a:srgbClr val="102018"/>
          </a:solidFill>
          <a:ln w="12700">
            <a:solidFill>
              <a:srgbClr val="244533"/>
            </a:solidFill>
            <a:prstDash val="solid"/>
          </a:ln>
        </p:spPr>
      </p:sp>
      <p:sp>
        <p:nvSpPr>
          <p:cNvPr id="18" name="Text 16"/>
          <p:cNvSpPr/>
          <p:nvPr/>
        </p:nvSpPr>
        <p:spPr>
          <a:xfrm>
            <a:off x="8138160" y="1737360"/>
            <a:ext cx="2560320" cy="411480"/>
          </a:xfrm>
          <a:prstGeom prst="rect">
            <a:avLst/>
          </a:prstGeom>
          <a:noFill/>
          <a:ln/>
        </p:spPr>
        <p:txBody>
          <a:bodyPr wrap="square" lIns="0" tIns="0" rIns="0" bIns="0" rtlCol="0" anchor="ctr"/>
          <a:lstStyle/>
          <a:p>
            <a:pPr indent="0" marL="0">
              <a:buNone/>
            </a:pPr>
            <a:r>
              <a:rPr lang="en-US" sz="2400" b="1" dirty="0">
                <a:solidFill>
                  <a:srgbClr val="6EE7B7"/>
                </a:solidFill>
                <a:latin typeface="Georgia" pitchFamily="34" charset="0"/>
                <a:ea typeface="Georgia" pitchFamily="34" charset="-122"/>
                <a:cs typeface="Georgia" pitchFamily="34" charset="-120"/>
              </a:rPr>
              <a:t>3.81</a:t>
            </a:r>
            <a:pPr indent="0" marL="0">
              <a:buNone/>
            </a:pPr>
            <a:r>
              <a:rPr lang="en-US" sz="1300" b="1" dirty="0">
                <a:solidFill>
                  <a:srgbClr val="A3B8AD"/>
                </a:solidFill>
                <a:latin typeface="Calibri" pitchFamily="34" charset="0"/>
                <a:ea typeface="Calibri" pitchFamily="34" charset="-122"/>
                <a:cs typeface="Calibri" pitchFamily="34" charset="-120"/>
              </a:rPr>
              <a:t> / 4.00</a:t>
            </a:r>
            <a:endParaRPr lang="en-US" sz="2400" dirty="0"/>
          </a:p>
        </p:txBody>
      </p:sp>
      <p:sp>
        <p:nvSpPr>
          <p:cNvPr id="19" name="Text 17"/>
          <p:cNvSpPr/>
          <p:nvPr/>
        </p:nvSpPr>
        <p:spPr>
          <a:xfrm>
            <a:off x="8138160" y="2121408"/>
            <a:ext cx="256032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Bachelor of Informatics GPA</a:t>
            </a:r>
            <a:endParaRPr lang="en-US" sz="1000" dirty="0"/>
          </a:p>
        </p:txBody>
      </p:sp>
      <p:sp>
        <p:nvSpPr>
          <p:cNvPr id="20" name="Text 18"/>
          <p:cNvSpPr/>
          <p:nvPr/>
        </p:nvSpPr>
        <p:spPr>
          <a:xfrm>
            <a:off x="8138160" y="2331720"/>
            <a:ext cx="2560320" cy="228600"/>
          </a:xfrm>
          <a:prstGeom prst="rect">
            <a:avLst/>
          </a:prstGeom>
          <a:noFill/>
          <a:ln/>
        </p:spPr>
        <p:txBody>
          <a:bodyPr wrap="square" lIns="0" tIns="0" rIns="0" bIns="0" rtlCol="0" anchor="ctr"/>
          <a:lstStyle/>
          <a:p>
            <a:pPr indent="0" marL="0">
              <a:buNone/>
            </a:pPr>
            <a:r>
              <a:rPr lang="en-US" sz="850" dirty="0">
                <a:solidFill>
                  <a:srgbClr val="70857A"/>
                </a:solidFill>
                <a:latin typeface="Calibri" pitchFamily="34" charset="0"/>
                <a:ea typeface="Calibri" pitchFamily="34" charset="-122"/>
                <a:cs typeface="Calibri" pitchFamily="34" charset="-120"/>
              </a:rPr>
              <a:t>Universitas Islam Indonesia</a:t>
            </a:r>
            <a:endParaRPr lang="en-US" sz="850" dirty="0"/>
          </a:p>
        </p:txBody>
      </p:sp>
      <p:sp>
        <p:nvSpPr>
          <p:cNvPr id="21" name="Text 19"/>
          <p:cNvSpPr/>
          <p:nvPr/>
        </p:nvSpPr>
        <p:spPr>
          <a:xfrm>
            <a:off x="8138160" y="2971800"/>
            <a:ext cx="2560320" cy="411480"/>
          </a:xfrm>
          <a:prstGeom prst="rect">
            <a:avLst/>
          </a:prstGeom>
          <a:noFill/>
          <a:ln/>
        </p:spPr>
        <p:txBody>
          <a:bodyPr wrap="square" lIns="0" tIns="0" rIns="0" bIns="0" rtlCol="0" anchor="ctr"/>
          <a:lstStyle/>
          <a:p>
            <a:pPr indent="0" marL="0">
              <a:buNone/>
            </a:pPr>
            <a:r>
              <a:rPr lang="en-US" sz="2400" b="1" dirty="0">
                <a:solidFill>
                  <a:srgbClr val="6EE7B7"/>
                </a:solidFill>
                <a:latin typeface="Georgia" pitchFamily="34" charset="0"/>
                <a:ea typeface="Georgia" pitchFamily="34" charset="-122"/>
                <a:cs typeface="Georgia" pitchFamily="34" charset="-120"/>
              </a:rPr>
              <a:t>05+</a:t>
            </a:r>
            <a:pPr indent="0" marL="0">
              <a:buNone/>
            </a:pPr>
            <a:r>
              <a:rPr lang="en-US" sz="1300" b="1" dirty="0">
                <a:solidFill>
                  <a:srgbClr val="A3B8AD"/>
                </a:solidFill>
                <a:latin typeface="Calibri" pitchFamily="34" charset="0"/>
                <a:ea typeface="Calibri" pitchFamily="34" charset="-122"/>
                <a:cs typeface="Calibri" pitchFamily="34" charset="-120"/>
              </a:rPr>
              <a:t> Systems</a:t>
            </a:r>
            <a:endParaRPr lang="en-US" sz="2400" dirty="0"/>
          </a:p>
        </p:txBody>
      </p:sp>
      <p:sp>
        <p:nvSpPr>
          <p:cNvPr id="22" name="Text 20"/>
          <p:cNvSpPr/>
          <p:nvPr/>
        </p:nvSpPr>
        <p:spPr>
          <a:xfrm>
            <a:off x="8138160" y="3355848"/>
            <a:ext cx="256032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Production &amp; Thesis Deliveries</a:t>
            </a:r>
            <a:endParaRPr lang="en-US" sz="1000" dirty="0"/>
          </a:p>
        </p:txBody>
      </p:sp>
      <p:sp>
        <p:nvSpPr>
          <p:cNvPr id="23" name="Text 21"/>
          <p:cNvSpPr/>
          <p:nvPr/>
        </p:nvSpPr>
        <p:spPr>
          <a:xfrm>
            <a:off x="8138160" y="3566160"/>
            <a:ext cx="2560320" cy="228600"/>
          </a:xfrm>
          <a:prstGeom prst="rect">
            <a:avLst/>
          </a:prstGeom>
          <a:noFill/>
          <a:ln/>
        </p:spPr>
        <p:txBody>
          <a:bodyPr wrap="square" lIns="0" tIns="0" rIns="0" bIns="0" rtlCol="0" anchor="ctr"/>
          <a:lstStyle/>
          <a:p>
            <a:pPr indent="0" marL="0">
              <a:buNone/>
            </a:pPr>
            <a:r>
              <a:rPr lang="en-US" sz="850" dirty="0">
                <a:solidFill>
                  <a:srgbClr val="70857A"/>
                </a:solidFill>
                <a:latin typeface="Calibri" pitchFamily="34" charset="0"/>
                <a:ea typeface="Calibri" pitchFamily="34" charset="-122"/>
                <a:cs typeface="Calibri" pitchFamily="34" charset="-120"/>
              </a:rPr>
              <a:t>Backend, Mobile &amp; IoT Architectures</a:t>
            </a:r>
            <a:endParaRPr lang="en-US" sz="850" dirty="0"/>
          </a:p>
        </p:txBody>
      </p:sp>
      <p:sp>
        <p:nvSpPr>
          <p:cNvPr id="24" name="Text 22"/>
          <p:cNvSpPr/>
          <p:nvPr/>
        </p:nvSpPr>
        <p:spPr>
          <a:xfrm>
            <a:off x="8138160" y="4206240"/>
            <a:ext cx="2560320" cy="411480"/>
          </a:xfrm>
          <a:prstGeom prst="rect">
            <a:avLst/>
          </a:prstGeom>
          <a:noFill/>
          <a:ln/>
        </p:spPr>
        <p:txBody>
          <a:bodyPr wrap="square" lIns="0" tIns="0" rIns="0" bIns="0" rtlCol="0" anchor="ctr"/>
          <a:lstStyle/>
          <a:p>
            <a:pPr indent="0" marL="0">
              <a:buNone/>
            </a:pPr>
            <a:r>
              <a:rPr lang="en-US" sz="2400" b="1" dirty="0">
                <a:solidFill>
                  <a:srgbClr val="6EE7B7"/>
                </a:solidFill>
                <a:latin typeface="Georgia" pitchFamily="34" charset="0"/>
                <a:ea typeface="Georgia" pitchFamily="34" charset="-122"/>
                <a:cs typeface="Georgia" pitchFamily="34" charset="-120"/>
              </a:rPr>
              <a:t>AWS &amp; Cisco</a:t>
            </a:r>
            <a:pPr indent="0" marL="0">
              <a:buNone/>
            </a:pPr>
            <a:r>
              <a:rPr lang="en-US" sz="1300" b="1" dirty="0">
                <a:solidFill>
                  <a:srgbClr val="A3B8AD"/>
                </a:solidFill>
                <a:latin typeface="Calibri" pitchFamily="34" charset="0"/>
                <a:ea typeface="Calibri" pitchFamily="34" charset="-122"/>
                <a:cs typeface="Calibri" pitchFamily="34" charset="-120"/>
              </a:rPr>
              <a:t> </a:t>
            </a:r>
            <a:endParaRPr lang="en-US" sz="2400" dirty="0"/>
          </a:p>
        </p:txBody>
      </p:sp>
      <p:sp>
        <p:nvSpPr>
          <p:cNvPr id="25" name="Text 23"/>
          <p:cNvSpPr/>
          <p:nvPr/>
        </p:nvSpPr>
        <p:spPr>
          <a:xfrm>
            <a:off x="8138160" y="4590288"/>
            <a:ext cx="256032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Industry Certifications</a:t>
            </a:r>
            <a:endParaRPr lang="en-US" sz="1000" dirty="0"/>
          </a:p>
        </p:txBody>
      </p:sp>
      <p:sp>
        <p:nvSpPr>
          <p:cNvPr id="26" name="Text 24"/>
          <p:cNvSpPr/>
          <p:nvPr/>
        </p:nvSpPr>
        <p:spPr>
          <a:xfrm>
            <a:off x="8138160" y="4800600"/>
            <a:ext cx="2560320" cy="228600"/>
          </a:xfrm>
          <a:prstGeom prst="rect">
            <a:avLst/>
          </a:prstGeom>
          <a:noFill/>
          <a:ln/>
        </p:spPr>
        <p:txBody>
          <a:bodyPr wrap="square" lIns="0" tIns="0" rIns="0" bIns="0" rtlCol="0" anchor="ctr"/>
          <a:lstStyle/>
          <a:p>
            <a:pPr indent="0" marL="0">
              <a:buNone/>
            </a:pPr>
            <a:r>
              <a:rPr lang="en-US" sz="850" dirty="0">
                <a:solidFill>
                  <a:srgbClr val="70857A"/>
                </a:solidFill>
                <a:latin typeface="Calibri" pitchFamily="34" charset="0"/>
                <a:ea typeface="Calibri" pitchFamily="34" charset="-122"/>
                <a:cs typeface="Calibri" pitchFamily="34" charset="-120"/>
              </a:rPr>
              <a:t>Cloud re/Start &amp; Cyber Threat Mgmt</a:t>
            </a:r>
            <a:endParaRPr lang="en-US" sz="850" dirty="0"/>
          </a:p>
        </p:txBody>
      </p:sp>
      <p:sp>
        <p:nvSpPr>
          <p:cNvPr id="27" name="Text 25"/>
          <p:cNvSpPr/>
          <p:nvPr/>
        </p:nvSpPr>
        <p:spPr>
          <a:xfrm>
            <a:off x="1188720" y="5806440"/>
            <a:ext cx="9784080" cy="274320"/>
          </a:xfrm>
          <a:prstGeom prst="rect">
            <a:avLst/>
          </a:prstGeom>
          <a:noFill/>
          <a:ln/>
        </p:spPr>
        <p:txBody>
          <a:bodyPr wrap="square" lIns="0" tIns="0" rIns="0" bIns="0" rtlCol="0" anchor="ctr"/>
          <a:lstStyle/>
          <a:p>
            <a:pPr indent="0" marL="0">
              <a:buNone/>
            </a:pPr>
            <a:r>
              <a:rPr lang="en-US" sz="850" dirty="0">
                <a:solidFill>
                  <a:srgbClr val="70857A"/>
                </a:solidFill>
                <a:latin typeface="Calibri" pitchFamily="34" charset="0"/>
                <a:ea typeface="Calibri" pitchFamily="34" charset="-122"/>
                <a:cs typeface="Calibri" pitchFamily="34" charset="-120"/>
              </a:rPr>
              <a:t>Handcrafted with discipline · reiky03.github.io · Confidential &amp; Curated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EBF7EE"/>
          </a:solidFill>
          <a:ln w="12700">
            <a:solidFill>
              <a:srgbClr val="C2E5CD"/>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01 · PROFESSIONAL PROFILE</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6D7E74"/>
                </a:solidFill>
                <a:latin typeface="Calibri" pitchFamily="34" charset="0"/>
                <a:ea typeface="Calibri" pitchFamily="34" charset="-122"/>
                <a:cs typeface="Calibri" pitchFamily="34" charset="-120"/>
              </a:rPr>
              <a:t>02 / 11</a:t>
            </a:r>
            <a:endParaRPr lang="en-US" sz="1000" dirty="0"/>
          </a:p>
        </p:txBody>
      </p:sp>
      <p:sp>
        <p:nvSpPr>
          <p:cNvPr id="5" name="Text 3"/>
          <p:cNvSpPr/>
          <p:nvPr/>
        </p:nvSpPr>
        <p:spPr>
          <a:xfrm>
            <a:off x="731520" y="859536"/>
            <a:ext cx="10698480" cy="475488"/>
          </a:xfrm>
          <a:prstGeom prst="rect">
            <a:avLst/>
          </a:prstGeom>
          <a:noFill/>
          <a:ln/>
        </p:spPr>
        <p:txBody>
          <a:bodyPr wrap="square" lIns="0" tIns="0" rIns="0" bIns="0" rtlCol="0" anchor="t"/>
          <a:lstStyle/>
          <a:p>
            <a:pPr indent="0" marL="0">
              <a:buNone/>
            </a:pPr>
            <a:r>
              <a:rPr lang="en-US" sz="2400" b="1" dirty="0">
                <a:solidFill>
                  <a:srgbClr val="131E18"/>
                </a:solidFill>
                <a:latin typeface="Georgia" pitchFamily="34" charset="0"/>
                <a:ea typeface="Georgia" pitchFamily="34" charset="-122"/>
                <a:cs typeface="Georgia" pitchFamily="34" charset="-120"/>
              </a:rPr>
              <a:t>Beyond the Code: Systems, Craft &amp; Precision</a:t>
            </a:r>
            <a:endParaRPr lang="en-US" sz="2400" dirty="0"/>
          </a:p>
        </p:txBody>
      </p:sp>
      <p:sp>
        <p:nvSpPr>
          <p:cNvPr id="6" name="Text 4"/>
          <p:cNvSpPr/>
          <p:nvPr/>
        </p:nvSpPr>
        <p:spPr>
          <a:xfrm>
            <a:off x="731520" y="1371600"/>
            <a:ext cx="10698480" cy="292608"/>
          </a:xfrm>
          <a:prstGeom prst="rect">
            <a:avLst/>
          </a:prstGeom>
          <a:noFill/>
          <a:ln/>
        </p:spPr>
        <p:txBody>
          <a:bodyPr wrap="square" lIns="0" tIns="0" rIns="0" bIns="0" rtlCol="0" anchor="t"/>
          <a:lstStyle/>
          <a:p>
            <a:pPr indent="0" marL="0">
              <a:buNone/>
            </a:pPr>
            <a:r>
              <a:rPr lang="en-US" sz="1250" dirty="0">
                <a:solidFill>
                  <a:srgbClr val="3E4D44"/>
                </a:solidFill>
                <a:latin typeface="Calibri" pitchFamily="34" charset="0"/>
                <a:ea typeface="Calibri" pitchFamily="34" charset="-122"/>
                <a:cs typeface="Calibri" pitchFamily="34" charset="-120"/>
              </a:rPr>
              <a:t>A blend of strong academic grounding, rigorous software engineering, and active production delivery.</a:t>
            </a:r>
            <a:endParaRPr lang="en-US" sz="1250" dirty="0"/>
          </a:p>
        </p:txBody>
      </p:sp>
      <p:sp>
        <p:nvSpPr>
          <p:cNvPr id="7" name="Shape 5"/>
          <p:cNvSpPr/>
          <p:nvPr/>
        </p:nvSpPr>
        <p:spPr>
          <a:xfrm>
            <a:off x="731520" y="1874520"/>
            <a:ext cx="5212080" cy="4434840"/>
          </a:xfrm>
          <a:prstGeom prst="roundRect">
            <a:avLst>
              <a:gd name="adj" fmla="val 3711"/>
            </a:avLst>
          </a:prstGeom>
          <a:solidFill>
            <a:srgbClr val="FFFFFF"/>
          </a:solidFill>
          <a:ln w="12700">
            <a:solidFill>
              <a:srgbClr val="E4E0D1"/>
            </a:solidFill>
            <a:prstDash val="solid"/>
          </a:ln>
        </p:spPr>
      </p:sp>
      <p:sp>
        <p:nvSpPr>
          <p:cNvPr id="8" name="Shape 6"/>
          <p:cNvSpPr/>
          <p:nvPr/>
        </p:nvSpPr>
        <p:spPr>
          <a:xfrm>
            <a:off x="1051560" y="2103120"/>
            <a:ext cx="2194560" cy="256032"/>
          </a:xfrm>
          <a:prstGeom prst="roundRect">
            <a:avLst>
              <a:gd name="adj" fmla="val 50000"/>
            </a:avLst>
          </a:prstGeom>
          <a:solidFill>
            <a:srgbClr val="EBF7EE"/>
          </a:solidFill>
          <a:ln w="12700">
            <a:solidFill>
              <a:srgbClr val="C2E5CD"/>
            </a:solidFill>
            <a:prstDash val="solid"/>
          </a:ln>
        </p:spPr>
      </p:sp>
      <p:sp>
        <p:nvSpPr>
          <p:cNvPr id="9" name="Text 7"/>
          <p:cNvSpPr/>
          <p:nvPr/>
        </p:nvSpPr>
        <p:spPr>
          <a:xfrm>
            <a:off x="1051560" y="2103120"/>
            <a:ext cx="2194560" cy="256032"/>
          </a:xfrm>
          <a:prstGeom prst="rect">
            <a:avLst/>
          </a:prstGeom>
          <a:noFill/>
          <a:ln/>
        </p:spPr>
        <p:txBody>
          <a:bodyPr wrap="square" lIns="0" tIns="0" rIns="0" bIns="0" rtlCol="0" anchor="ctr"/>
          <a:lstStyle/>
          <a:p>
            <a:pPr algn="ctr" indent="0" marL="0">
              <a:buNone/>
            </a:pPr>
            <a:r>
              <a:rPr lang="en-US" sz="800" b="1" dirty="0">
                <a:solidFill>
                  <a:srgbClr val="15803D"/>
                </a:solidFill>
                <a:latin typeface="Calibri" pitchFamily="34" charset="0"/>
                <a:ea typeface="Calibri" pitchFamily="34" charset="-122"/>
                <a:cs typeface="Calibri" pitchFamily="34" charset="-120"/>
              </a:rPr>
              <a:t>ENGINEERING CORE</a:t>
            </a:r>
            <a:endParaRPr lang="en-US" sz="800" dirty="0"/>
          </a:p>
        </p:txBody>
      </p:sp>
      <p:sp>
        <p:nvSpPr>
          <p:cNvPr id="10" name="Text 8"/>
          <p:cNvSpPr/>
          <p:nvPr/>
        </p:nvSpPr>
        <p:spPr>
          <a:xfrm>
            <a:off x="1051560" y="2468880"/>
            <a:ext cx="4572000" cy="411480"/>
          </a:xfrm>
          <a:prstGeom prst="rect">
            <a:avLst/>
          </a:prstGeom>
          <a:noFill/>
          <a:ln/>
        </p:spPr>
        <p:txBody>
          <a:bodyPr wrap="square" lIns="0" tIns="0" rIns="0" bIns="0" rtlCol="0" anchor="ctr"/>
          <a:lstStyle/>
          <a:p>
            <a:pPr indent="0" marL="0">
              <a:buNone/>
            </a:pPr>
            <a:r>
              <a:rPr lang="en-US" sz="1800" b="1" dirty="0">
                <a:solidFill>
                  <a:srgbClr val="131E18"/>
                </a:solidFill>
                <a:latin typeface="Georgia" pitchFamily="34" charset="0"/>
                <a:ea typeface="Georgia" pitchFamily="34" charset="-122"/>
                <a:cs typeface="Georgia" pitchFamily="34" charset="-120"/>
              </a:rPr>
              <a:t>Building Practical &amp; Reliable Software</a:t>
            </a:r>
            <a:endParaRPr lang="en-US" sz="1800" dirty="0"/>
          </a:p>
        </p:txBody>
      </p:sp>
      <p:sp>
        <p:nvSpPr>
          <p:cNvPr id="11" name="Text 9"/>
          <p:cNvSpPr/>
          <p:nvPr/>
        </p:nvSpPr>
        <p:spPr>
          <a:xfrm>
            <a:off x="1051560" y="2971800"/>
            <a:ext cx="4572000" cy="1737360"/>
          </a:xfrm>
          <a:prstGeom prst="rect">
            <a:avLst/>
          </a:prstGeom>
          <a:noFill/>
          <a:ln/>
        </p:spPr>
        <p:txBody>
          <a:bodyPr wrap="square" lIns="0" tIns="0" rIns="0" bIns="0" rtlCol="0" anchor="ctr"/>
          <a:lstStyle/>
          <a:p>
            <a:pPr indent="0" marL="0">
              <a:lnSpc>
                <a:spcPct val="125000"/>
              </a:lnSpc>
              <a:buNone/>
            </a:pPr>
            <a:r>
              <a:rPr lang="en-US" sz="1150" dirty="0">
                <a:solidFill>
                  <a:srgbClr val="3E4D44"/>
                </a:solidFill>
                <a:latin typeface="Calibri" pitchFamily="34" charset="0"/>
                <a:ea typeface="Calibri" pitchFamily="34" charset="-122"/>
                <a:cs typeface="Calibri" pitchFamily="34" charset="-120"/>
              </a:rPr>
              <a:t>I believe that good software starts with clear fundamentals, solid data integrity, and thoughtful design. My journey spans foundational engineering: from organizing normalized database schemas and clean REST APIs to building responsive client interfaces.</a:t>
            </a:r>
            <a:endParaRPr lang="en-US" sz="1150" dirty="0"/>
          </a:p>
          <a:p>
            <a:pPr indent="0" marL="0">
              <a:lnSpc>
                <a:spcPct val="125000"/>
              </a:lnSpc>
              <a:buNone/>
            </a:pPr>
            <a:endParaRPr lang="en-US" sz="1150" dirty="0"/>
          </a:p>
          <a:p>
            <a:pPr indent="0" marL="0">
              <a:lnSpc>
                <a:spcPct val="125000"/>
              </a:lnSpc>
              <a:buNone/>
            </a:pPr>
            <a:r>
              <a:rPr lang="en-US" sz="1150" dirty="0">
                <a:solidFill>
                  <a:srgbClr val="3E4D44"/>
                </a:solidFill>
                <a:latin typeface="Calibri" pitchFamily="34" charset="0"/>
                <a:ea typeface="Calibri" pitchFamily="34" charset="-122"/>
                <a:cs typeface="Calibri" pitchFamily="34" charset="-120"/>
              </a:rPr>
              <a:t>Through my internship at Badan Sistem Informasi UII and academic research, I stay curious, open to feedback, and dedicated to writing maintainable code that helps real users.</a:t>
            </a:r>
            <a:endParaRPr lang="en-US" sz="1150" dirty="0"/>
          </a:p>
        </p:txBody>
      </p:sp>
      <p:sp>
        <p:nvSpPr>
          <p:cNvPr id="12" name="Text 10"/>
          <p:cNvSpPr/>
          <p:nvPr/>
        </p:nvSpPr>
        <p:spPr>
          <a:xfrm>
            <a:off x="1051560" y="4846320"/>
            <a:ext cx="4572000" cy="347472"/>
          </a:xfrm>
          <a:prstGeom prst="rect">
            <a:avLst/>
          </a:prstGeom>
          <a:noFill/>
          <a:ln/>
        </p:spPr>
        <p:txBody>
          <a:bodyPr wrap="square" lIns="0" tIns="0" rIns="0" bIns="0" rtlCol="0" anchor="ctr"/>
          <a:lstStyle/>
          <a:p>
            <a:pPr indent="0" marL="0">
              <a:buNone/>
            </a:pPr>
            <a:r>
              <a:rPr lang="en-US" sz="1000" b="1" dirty="0">
                <a:solidFill>
                  <a:srgbClr val="15803D"/>
                </a:solidFill>
              </a:rPr>
              <a:t>•  Reliability-First — </a:t>
            </a:r>
            <a:pPr indent="0" marL="0">
              <a:buNone/>
            </a:pPr>
            <a:r>
              <a:rPr lang="en-US" sz="950" dirty="0">
                <a:solidFill>
                  <a:srgbClr val="6D7E74"/>
                </a:solidFill>
              </a:rPr>
              <a:t>Normalized schemas, idempotent transactions, and defensive error boundaries.</a:t>
            </a:r>
            <a:endParaRPr lang="en-US" sz="1000" dirty="0"/>
          </a:p>
        </p:txBody>
      </p:sp>
      <p:sp>
        <p:nvSpPr>
          <p:cNvPr id="13" name="Text 11"/>
          <p:cNvSpPr/>
          <p:nvPr/>
        </p:nvSpPr>
        <p:spPr>
          <a:xfrm>
            <a:off x="1051560" y="5285232"/>
            <a:ext cx="4572000" cy="347472"/>
          </a:xfrm>
          <a:prstGeom prst="rect">
            <a:avLst/>
          </a:prstGeom>
          <a:noFill/>
          <a:ln/>
        </p:spPr>
        <p:txBody>
          <a:bodyPr wrap="square" lIns="0" tIns="0" rIns="0" bIns="0" rtlCol="0" anchor="ctr"/>
          <a:lstStyle/>
          <a:p>
            <a:pPr indent="0" marL="0">
              <a:buNone/>
            </a:pPr>
            <a:r>
              <a:rPr lang="en-US" sz="1000" b="1" dirty="0">
                <a:solidFill>
                  <a:srgbClr val="15803D"/>
                </a:solidFill>
              </a:rPr>
              <a:t>•  Full-Stack Agility — </a:t>
            </a:r>
            <a:pPr indent="0" marL="0">
              <a:buNone/>
            </a:pPr>
            <a:r>
              <a:rPr lang="en-US" sz="950" dirty="0">
                <a:solidFill>
                  <a:srgbClr val="6D7E74"/>
                </a:solidFill>
              </a:rPr>
              <a:t>Seamless bridge between server-side Go/PHP and client-side TypeScript/Flutter.</a:t>
            </a:r>
            <a:endParaRPr lang="en-US" sz="1000" dirty="0"/>
          </a:p>
        </p:txBody>
      </p:sp>
      <p:sp>
        <p:nvSpPr>
          <p:cNvPr id="14" name="Text 12"/>
          <p:cNvSpPr/>
          <p:nvPr/>
        </p:nvSpPr>
        <p:spPr>
          <a:xfrm>
            <a:off x="1051560" y="5724144"/>
            <a:ext cx="4572000" cy="347472"/>
          </a:xfrm>
          <a:prstGeom prst="rect">
            <a:avLst/>
          </a:prstGeom>
          <a:noFill/>
          <a:ln/>
        </p:spPr>
        <p:txBody>
          <a:bodyPr wrap="square" lIns="0" tIns="0" rIns="0" bIns="0" rtlCol="0" anchor="ctr"/>
          <a:lstStyle/>
          <a:p>
            <a:pPr indent="0" marL="0">
              <a:buNone/>
            </a:pPr>
            <a:r>
              <a:rPr lang="en-US" sz="1000" b="1" dirty="0">
                <a:solidFill>
                  <a:srgbClr val="15803D"/>
                </a:solidFill>
              </a:rPr>
              <a:t>•  Academic Rigor — </a:t>
            </a:r>
            <a:pPr indent="0" marL="0">
              <a:buNone/>
            </a:pPr>
            <a:r>
              <a:rPr lang="en-US" sz="950" dirty="0">
                <a:solidFill>
                  <a:srgbClr val="6D7E74"/>
                </a:solidFill>
              </a:rPr>
              <a:t>GPA 3.81/4.00, published thesis research, and certified cloud practices.</a:t>
            </a:r>
            <a:endParaRPr lang="en-US" sz="1000" dirty="0"/>
          </a:p>
        </p:txBody>
      </p:sp>
      <p:sp>
        <p:nvSpPr>
          <p:cNvPr id="15" name="Shape 13"/>
          <p:cNvSpPr/>
          <p:nvPr/>
        </p:nvSpPr>
        <p:spPr>
          <a:xfrm>
            <a:off x="6172200" y="1874520"/>
            <a:ext cx="5285232" cy="2103120"/>
          </a:xfrm>
          <a:prstGeom prst="roundRect">
            <a:avLst>
              <a:gd name="adj" fmla="val 7826"/>
            </a:avLst>
          </a:prstGeom>
          <a:solidFill>
            <a:srgbClr val="FFFFFF"/>
          </a:solidFill>
          <a:ln w="12700">
            <a:solidFill>
              <a:srgbClr val="E4E0D1"/>
            </a:solidFill>
            <a:prstDash val="solid"/>
          </a:ln>
        </p:spPr>
      </p:sp>
      <p:sp>
        <p:nvSpPr>
          <p:cNvPr id="16" name="Text 14"/>
          <p:cNvSpPr/>
          <p:nvPr/>
        </p:nvSpPr>
        <p:spPr>
          <a:xfrm>
            <a:off x="6446520" y="2057400"/>
            <a:ext cx="4114800" cy="22860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CURRENT PRODUCTION ROLE · SINCE DEC 2025</a:t>
            </a:r>
            <a:endParaRPr lang="en-US" sz="850" dirty="0"/>
          </a:p>
        </p:txBody>
      </p:sp>
      <p:sp>
        <p:nvSpPr>
          <p:cNvPr id="17" name="Text 15"/>
          <p:cNvSpPr/>
          <p:nvPr/>
        </p:nvSpPr>
        <p:spPr>
          <a:xfrm>
            <a:off x="6446520" y="2304288"/>
            <a:ext cx="4663440" cy="320040"/>
          </a:xfrm>
          <a:prstGeom prst="rect">
            <a:avLst/>
          </a:prstGeom>
          <a:noFill/>
          <a:ln/>
        </p:spPr>
        <p:txBody>
          <a:bodyPr wrap="square" lIns="0" tIns="0" rIns="0" bIns="0" rtlCol="0" anchor="ctr"/>
          <a:lstStyle/>
          <a:p>
            <a:pPr indent="0" marL="0">
              <a:buNone/>
            </a:pPr>
            <a:r>
              <a:rPr lang="en-US" sz="1600" b="1" dirty="0">
                <a:solidFill>
                  <a:srgbClr val="131E18"/>
                </a:solidFill>
                <a:latin typeface="Georgia" pitchFamily="34" charset="0"/>
                <a:ea typeface="Georgia" pitchFamily="34" charset="-122"/>
                <a:cs typeface="Georgia" pitchFamily="34" charset="-120"/>
              </a:rPr>
              <a:t>Backend Developer Intern</a:t>
            </a:r>
            <a:endParaRPr lang="en-US" sz="1600" dirty="0"/>
          </a:p>
        </p:txBody>
      </p:sp>
      <p:sp>
        <p:nvSpPr>
          <p:cNvPr id="18" name="Text 16"/>
          <p:cNvSpPr/>
          <p:nvPr/>
        </p:nvSpPr>
        <p:spPr>
          <a:xfrm>
            <a:off x="6446520" y="2633472"/>
            <a:ext cx="4663440" cy="228600"/>
          </a:xfrm>
          <a:prstGeom prst="rect">
            <a:avLst/>
          </a:prstGeom>
          <a:noFill/>
          <a:ln/>
        </p:spPr>
        <p:txBody>
          <a:bodyPr wrap="square" lIns="0" tIns="0" rIns="0" bIns="0" rtlCol="0" anchor="ctr"/>
          <a:lstStyle/>
          <a:p>
            <a:pPr indent="0" marL="0">
              <a:buNone/>
            </a:pPr>
            <a:r>
              <a:rPr lang="en-US" sz="1050" b="1" dirty="0">
                <a:solidFill>
                  <a:srgbClr val="6D7E74"/>
                </a:solidFill>
                <a:latin typeface="Calibri" pitchFamily="34" charset="0"/>
                <a:ea typeface="Calibri" pitchFamily="34" charset="-122"/>
                <a:cs typeface="Calibri" pitchFamily="34" charset="-120"/>
              </a:rPr>
              <a:t>Badan Sistem Informasi · Universitas Islam Indonesia</a:t>
            </a:r>
            <a:endParaRPr lang="en-US" sz="1050" dirty="0"/>
          </a:p>
        </p:txBody>
      </p:sp>
      <p:sp>
        <p:nvSpPr>
          <p:cNvPr id="19" name="Text 17"/>
          <p:cNvSpPr/>
          <p:nvPr/>
        </p:nvSpPr>
        <p:spPr>
          <a:xfrm>
            <a:off x="6446520" y="2907792"/>
            <a:ext cx="4754880" cy="914400"/>
          </a:xfrm>
          <a:prstGeom prst="rect">
            <a:avLst/>
          </a:prstGeom>
          <a:noFill/>
          <a:ln/>
        </p:spPr>
        <p:txBody>
          <a:bodyPr wrap="square" lIns="0" tIns="0" rIns="0" bIns="0" rtlCol="0" anchor="ctr"/>
          <a:lstStyle/>
          <a:p>
            <a:pPr indent="0" marL="0">
              <a:lnSpc>
                <a:spcPct val="125000"/>
              </a:lnSpc>
              <a:buNone/>
            </a:pPr>
            <a:r>
              <a:rPr lang="en-US" sz="1000" dirty="0">
                <a:solidFill>
                  <a:srgbClr val="3E4D44"/>
                </a:solidFill>
                <a:latin typeface="Calibri" pitchFamily="34" charset="0"/>
                <a:ea typeface="Calibri" pitchFamily="34" charset="-122"/>
                <a:cs typeface="Calibri" pitchFamily="34" charset="-120"/>
              </a:rPr>
              <a:t>• Assisting in developing and maintaining REST APIs using Laravel and Lumen.</a:t>
            </a:r>
            <a:endParaRPr lang="en-US" sz="1000" dirty="0"/>
          </a:p>
          <a:p>
            <a:pPr indent="0" marL="0">
              <a:lnSpc>
                <a:spcPct val="125000"/>
              </a:lnSpc>
              <a:buNone/>
            </a:pPr>
            <a:r>
              <a:rPr lang="en-US" sz="1000" dirty="0">
                <a:solidFill>
                  <a:srgbClr val="3E4D44"/>
                </a:solidFill>
                <a:latin typeface="Calibri" pitchFamily="34" charset="0"/>
                <a:ea typeface="Calibri" pitchFamily="34" charset="-122"/>
                <a:cs typeface="Calibri" pitchFamily="34" charset="-120"/>
              </a:rPr>
              <a:t>• Profiling and tuning MySQL queries for enterprise catalog services.</a:t>
            </a:r>
            <a:endParaRPr lang="en-US" sz="1000" dirty="0"/>
          </a:p>
          <a:p>
            <a:pPr indent="0" marL="0">
              <a:lnSpc>
                <a:spcPct val="125000"/>
              </a:lnSpc>
              <a:buNone/>
            </a:pPr>
            <a:r>
              <a:rPr lang="en-US" sz="1000" dirty="0">
                <a:solidFill>
                  <a:srgbClr val="3E4D44"/>
                </a:solidFill>
                <a:latin typeface="Calibri" pitchFamily="34" charset="0"/>
                <a:ea typeface="Calibri" pitchFamily="34" charset="-122"/>
                <a:cs typeface="Calibri" pitchFamily="34" charset="-120"/>
              </a:rPr>
              <a:t>• Exploring Model Context Protocol (MCP) AI integrations for campus automation.</a:t>
            </a:r>
            <a:endParaRPr lang="en-US" sz="1000" dirty="0"/>
          </a:p>
        </p:txBody>
      </p:sp>
      <p:sp>
        <p:nvSpPr>
          <p:cNvPr id="20" name="Shape 18"/>
          <p:cNvSpPr/>
          <p:nvPr/>
        </p:nvSpPr>
        <p:spPr>
          <a:xfrm>
            <a:off x="6172200" y="4206240"/>
            <a:ext cx="5285232" cy="2103120"/>
          </a:xfrm>
          <a:prstGeom prst="roundRect">
            <a:avLst>
              <a:gd name="adj" fmla="val 7826"/>
            </a:avLst>
          </a:prstGeom>
          <a:solidFill>
            <a:srgbClr val="FFFFFF"/>
          </a:solidFill>
          <a:ln w="12700">
            <a:solidFill>
              <a:srgbClr val="E4E0D1"/>
            </a:solidFill>
            <a:prstDash val="solid"/>
          </a:ln>
        </p:spPr>
      </p:sp>
      <p:sp>
        <p:nvSpPr>
          <p:cNvPr id="21" name="Text 19"/>
          <p:cNvSpPr/>
          <p:nvPr/>
        </p:nvSpPr>
        <p:spPr>
          <a:xfrm>
            <a:off x="6446520" y="4389120"/>
            <a:ext cx="4114800" cy="22860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ACADEMIC EXCELLENCE &amp; PUBLISHED RESEARCH</a:t>
            </a:r>
            <a:endParaRPr lang="en-US" sz="850" dirty="0"/>
          </a:p>
        </p:txBody>
      </p:sp>
      <p:sp>
        <p:nvSpPr>
          <p:cNvPr id="22" name="Text 20"/>
          <p:cNvSpPr/>
          <p:nvPr/>
        </p:nvSpPr>
        <p:spPr>
          <a:xfrm>
            <a:off x="6446520" y="4617720"/>
            <a:ext cx="4663440" cy="320040"/>
          </a:xfrm>
          <a:prstGeom prst="rect">
            <a:avLst/>
          </a:prstGeom>
          <a:noFill/>
          <a:ln/>
        </p:spPr>
        <p:txBody>
          <a:bodyPr wrap="square" lIns="0" tIns="0" rIns="0" bIns="0" rtlCol="0" anchor="ctr"/>
          <a:lstStyle/>
          <a:p>
            <a:pPr indent="0" marL="0">
              <a:buNone/>
            </a:pPr>
            <a:r>
              <a:rPr lang="en-US" sz="1500" b="1" dirty="0">
                <a:solidFill>
                  <a:srgbClr val="131E18"/>
                </a:solidFill>
                <a:latin typeface="Georgia" pitchFamily="34" charset="0"/>
                <a:ea typeface="Georgia" pitchFamily="34" charset="-122"/>
                <a:cs typeface="Georgia" pitchFamily="34" charset="-120"/>
              </a:rPr>
              <a:t>Bachelor of Informatics (GPA 3.81 / 4.00)</a:t>
            </a:r>
            <a:endParaRPr lang="en-US" sz="1500" dirty="0"/>
          </a:p>
        </p:txBody>
      </p:sp>
      <p:sp>
        <p:nvSpPr>
          <p:cNvPr id="23" name="Text 21"/>
          <p:cNvSpPr/>
          <p:nvPr/>
        </p:nvSpPr>
        <p:spPr>
          <a:xfrm>
            <a:off x="6446520" y="4937760"/>
            <a:ext cx="4663440" cy="228600"/>
          </a:xfrm>
          <a:prstGeom prst="rect">
            <a:avLst/>
          </a:prstGeom>
          <a:noFill/>
          <a:ln/>
        </p:spPr>
        <p:txBody>
          <a:bodyPr wrap="square" lIns="0" tIns="0" rIns="0" bIns="0" rtlCol="0" anchor="ctr"/>
          <a:lstStyle/>
          <a:p>
            <a:pPr indent="0" marL="0">
              <a:buNone/>
            </a:pPr>
            <a:r>
              <a:rPr lang="en-US" sz="1050" b="1" dirty="0">
                <a:solidFill>
                  <a:srgbClr val="6D7E74"/>
                </a:solidFill>
                <a:latin typeface="Calibri" pitchFamily="34" charset="0"/>
                <a:ea typeface="Calibri" pitchFamily="34" charset="-122"/>
                <a:cs typeface="Calibri" pitchFamily="34" charset="-120"/>
              </a:rPr>
              <a:t>Universitas Islam Indonesia · Class of 2026</a:t>
            </a:r>
            <a:endParaRPr lang="en-US" sz="1050" dirty="0"/>
          </a:p>
        </p:txBody>
      </p:sp>
      <p:sp>
        <p:nvSpPr>
          <p:cNvPr id="24" name="Text 22"/>
          <p:cNvSpPr/>
          <p:nvPr/>
        </p:nvSpPr>
        <p:spPr>
          <a:xfrm>
            <a:off x="6446520" y="5212080"/>
            <a:ext cx="4754880" cy="914400"/>
          </a:xfrm>
          <a:prstGeom prst="rect">
            <a:avLst/>
          </a:prstGeom>
          <a:noFill/>
          <a:ln/>
        </p:spPr>
        <p:txBody>
          <a:bodyPr wrap="square" lIns="0" tIns="0" rIns="0" bIns="0" rtlCol="0" anchor="ctr"/>
          <a:lstStyle/>
          <a:p>
            <a:pPr indent="0" marL="0">
              <a:lnSpc>
                <a:spcPct val="125000"/>
              </a:lnSpc>
              <a:buNone/>
            </a:pPr>
            <a:r>
              <a:rPr lang="en-US" sz="1000" dirty="0">
                <a:solidFill>
                  <a:srgbClr val="3E4D44"/>
                </a:solidFill>
                <a:latin typeface="Calibri" pitchFamily="34" charset="0"/>
                <a:ea typeface="Calibri" pitchFamily="34" charset="-122"/>
                <a:cs typeface="Calibri" pitchFamily="34" charset="-120"/>
              </a:rPr>
              <a:t>• Published Researcher: Park Masjid thesis published in Technologia: Jurnal Ilmiah (2026).</a:t>
            </a:r>
            <a:endParaRPr lang="en-US" sz="1000" dirty="0"/>
          </a:p>
          <a:p>
            <a:pPr indent="0" marL="0">
              <a:lnSpc>
                <a:spcPct val="125000"/>
              </a:lnSpc>
              <a:buNone/>
            </a:pPr>
            <a:r>
              <a:rPr lang="en-US" sz="1000" dirty="0">
                <a:solidFill>
                  <a:srgbClr val="3E4D44"/>
                </a:solidFill>
                <a:latin typeface="Calibri" pitchFamily="34" charset="0"/>
                <a:ea typeface="Calibri" pitchFamily="34" charset="-122"/>
                <a:cs typeface="Calibri" pitchFamily="34" charset="-120"/>
              </a:rPr>
              <a:t>• Award Winner: Best Team Award at Informatics Expo Design Thinking (2022).</a:t>
            </a:r>
            <a:endParaRPr lang="en-US" sz="1000" dirty="0"/>
          </a:p>
          <a:p>
            <a:pPr indent="0" marL="0">
              <a:lnSpc>
                <a:spcPct val="125000"/>
              </a:lnSpc>
              <a:buNone/>
            </a:pPr>
            <a:r>
              <a:rPr lang="en-US" sz="1000" dirty="0">
                <a:solidFill>
                  <a:srgbClr val="3E4D44"/>
                </a:solidFill>
                <a:latin typeface="Calibri" pitchFamily="34" charset="0"/>
                <a:ea typeface="Calibri" pitchFamily="34" charset="-122"/>
                <a:cs typeface="Calibri" pitchFamily="34" charset="-120"/>
              </a:rPr>
              <a:t>• Certified: AWS re/Start Cloud Architecture &amp; Cisco Cyber Threat Management.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EBF7EE"/>
          </a:solidFill>
          <a:ln w="12700">
            <a:solidFill>
              <a:srgbClr val="C2E5CD"/>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02 · TECHNICAL TOOLKIT</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6D7E74"/>
                </a:solidFill>
                <a:latin typeface="Calibri" pitchFamily="34" charset="0"/>
                <a:ea typeface="Calibri" pitchFamily="34" charset="-122"/>
                <a:cs typeface="Calibri" pitchFamily="34" charset="-120"/>
              </a:rPr>
              <a:t>03 / 11</a:t>
            </a:r>
            <a:endParaRPr lang="en-US" sz="1000" dirty="0"/>
          </a:p>
        </p:txBody>
      </p:sp>
      <p:sp>
        <p:nvSpPr>
          <p:cNvPr id="5" name="Text 3"/>
          <p:cNvSpPr/>
          <p:nvPr/>
        </p:nvSpPr>
        <p:spPr>
          <a:xfrm>
            <a:off x="731520" y="859536"/>
            <a:ext cx="10698480" cy="475488"/>
          </a:xfrm>
          <a:prstGeom prst="rect">
            <a:avLst/>
          </a:prstGeom>
          <a:noFill/>
          <a:ln/>
        </p:spPr>
        <p:txBody>
          <a:bodyPr wrap="square" lIns="0" tIns="0" rIns="0" bIns="0" rtlCol="0" anchor="t"/>
          <a:lstStyle/>
          <a:p>
            <a:pPr indent="0" marL="0">
              <a:buNone/>
            </a:pPr>
            <a:r>
              <a:rPr lang="en-US" sz="2400" b="1" dirty="0">
                <a:solidFill>
                  <a:srgbClr val="131E18"/>
                </a:solidFill>
                <a:latin typeface="Georgia" pitchFamily="34" charset="0"/>
                <a:ea typeface="Georgia" pitchFamily="34" charset="-122"/>
                <a:cs typeface="Georgia" pitchFamily="34" charset="-120"/>
              </a:rPr>
              <a:t>What I Build With: A Focused Engineering Stack</a:t>
            </a:r>
            <a:endParaRPr lang="en-US" sz="2400" dirty="0"/>
          </a:p>
        </p:txBody>
      </p:sp>
      <p:sp>
        <p:nvSpPr>
          <p:cNvPr id="6" name="Text 4"/>
          <p:cNvSpPr/>
          <p:nvPr/>
        </p:nvSpPr>
        <p:spPr>
          <a:xfrm>
            <a:off x="731520" y="1371600"/>
            <a:ext cx="10698480" cy="292608"/>
          </a:xfrm>
          <a:prstGeom prst="rect">
            <a:avLst/>
          </a:prstGeom>
          <a:noFill/>
          <a:ln/>
        </p:spPr>
        <p:txBody>
          <a:bodyPr wrap="square" lIns="0" tIns="0" rIns="0" bIns="0" rtlCol="0" anchor="t"/>
          <a:lstStyle/>
          <a:p>
            <a:pPr indent="0" marL="0">
              <a:buNone/>
            </a:pPr>
            <a:r>
              <a:rPr lang="en-US" sz="1250" dirty="0">
                <a:solidFill>
                  <a:srgbClr val="3E4D44"/>
                </a:solidFill>
                <a:latin typeface="Calibri" pitchFamily="34" charset="0"/>
                <a:ea typeface="Calibri" pitchFamily="34" charset="-122"/>
                <a:cs typeface="Calibri" pitchFamily="34" charset="-120"/>
              </a:rPr>
              <a:t>Refined through production backend internships, academic research, and full-stack software delivery.</a:t>
            </a:r>
            <a:endParaRPr lang="en-US" sz="1250" dirty="0"/>
          </a:p>
        </p:txBody>
      </p:sp>
      <p:sp>
        <p:nvSpPr>
          <p:cNvPr id="7" name="Shape 5"/>
          <p:cNvSpPr/>
          <p:nvPr/>
        </p:nvSpPr>
        <p:spPr>
          <a:xfrm>
            <a:off x="731520" y="1874520"/>
            <a:ext cx="2578608" cy="4462272"/>
          </a:xfrm>
          <a:prstGeom prst="roundRect">
            <a:avLst>
              <a:gd name="adj" fmla="val 6383"/>
            </a:avLst>
          </a:prstGeom>
          <a:solidFill>
            <a:srgbClr val="FFFFFF"/>
          </a:solidFill>
          <a:ln w="12700">
            <a:solidFill>
              <a:srgbClr val="E4E0D1"/>
            </a:solidFill>
            <a:prstDash val="solid"/>
          </a:ln>
        </p:spPr>
      </p:sp>
      <p:sp>
        <p:nvSpPr>
          <p:cNvPr id="8" name="Text 6"/>
          <p:cNvSpPr/>
          <p:nvPr/>
        </p:nvSpPr>
        <p:spPr>
          <a:xfrm>
            <a:off x="932688" y="2029968"/>
            <a:ext cx="548640" cy="256032"/>
          </a:xfrm>
          <a:prstGeom prst="rect">
            <a:avLst/>
          </a:prstGeom>
          <a:noFill/>
          <a:ln/>
        </p:spPr>
        <p:txBody>
          <a:bodyPr wrap="square" lIns="0" tIns="0" rIns="0" bIns="0" rtlCol="0" anchor="ctr"/>
          <a:lstStyle/>
          <a:p>
            <a:pPr indent="0" marL="0">
              <a:buNone/>
            </a:pPr>
            <a:r>
              <a:rPr lang="en-US" sz="1600" b="1" dirty="0">
                <a:solidFill>
                  <a:srgbClr val="15803D"/>
                </a:solidFill>
                <a:latin typeface="Georgia" pitchFamily="34" charset="0"/>
                <a:ea typeface="Georgia" pitchFamily="34" charset="-122"/>
                <a:cs typeface="Georgia" pitchFamily="34" charset="-120"/>
              </a:rPr>
              <a:t>01</a:t>
            </a:r>
            <a:endParaRPr lang="en-US" sz="1600" dirty="0"/>
          </a:p>
        </p:txBody>
      </p:sp>
      <p:sp>
        <p:nvSpPr>
          <p:cNvPr id="9" name="Text 7"/>
          <p:cNvSpPr/>
          <p:nvPr/>
        </p:nvSpPr>
        <p:spPr>
          <a:xfrm>
            <a:off x="932688" y="2331720"/>
            <a:ext cx="2176272" cy="384048"/>
          </a:xfrm>
          <a:prstGeom prst="rect">
            <a:avLst/>
          </a:prstGeom>
          <a:noFill/>
          <a:ln/>
        </p:spPr>
        <p:txBody>
          <a:bodyPr wrap="square" lIns="0" tIns="0" rIns="0" bIns="0" rtlCol="0" anchor="ctr"/>
          <a:lstStyle/>
          <a:p>
            <a:pPr indent="0" marL="0">
              <a:buNone/>
            </a:pPr>
            <a:r>
              <a:rPr lang="en-US" sz="1350" b="1" dirty="0">
                <a:solidFill>
                  <a:srgbClr val="131E18"/>
                </a:solidFill>
                <a:latin typeface="Georgia" pitchFamily="34" charset="0"/>
                <a:ea typeface="Georgia" pitchFamily="34" charset="-122"/>
                <a:cs typeface="Georgia" pitchFamily="34" charset="-120"/>
              </a:rPr>
              <a:t>Backend &amp; Systems</a:t>
            </a:r>
            <a:endParaRPr lang="en-US" sz="1350" dirty="0"/>
          </a:p>
        </p:txBody>
      </p:sp>
      <p:sp>
        <p:nvSpPr>
          <p:cNvPr id="10" name="Text 8"/>
          <p:cNvSpPr/>
          <p:nvPr/>
        </p:nvSpPr>
        <p:spPr>
          <a:xfrm>
            <a:off x="932688" y="2761488"/>
            <a:ext cx="2176272" cy="658368"/>
          </a:xfrm>
          <a:prstGeom prst="rect">
            <a:avLst/>
          </a:prstGeom>
          <a:noFill/>
          <a:ln/>
        </p:spPr>
        <p:txBody>
          <a:bodyPr wrap="square" lIns="0" tIns="0" rIns="0" bIns="0" rtlCol="0" anchor="ctr"/>
          <a:lstStyle/>
          <a:p>
            <a:pPr indent="0" marL="0">
              <a:lnSpc>
                <a:spcPct val="115000"/>
              </a:lnSpc>
              <a:buNone/>
            </a:pPr>
            <a:r>
              <a:rPr lang="en-US" sz="950" dirty="0">
                <a:solidFill>
                  <a:srgbClr val="3E4D44"/>
                </a:solidFill>
                <a:latin typeface="Calibri" pitchFamily="34" charset="0"/>
                <a:ea typeface="Calibri" pitchFamily="34" charset="-122"/>
                <a:cs typeface="Calibri" pitchFamily="34" charset="-120"/>
              </a:rPr>
              <a:t>Backend services, RESTful API endpoints, and clean server-side application logic.</a:t>
            </a:r>
            <a:endParaRPr lang="en-US" sz="950" dirty="0"/>
          </a:p>
        </p:txBody>
      </p:sp>
      <p:sp>
        <p:nvSpPr>
          <p:cNvPr id="11" name="Shape 9"/>
          <p:cNvSpPr/>
          <p:nvPr/>
        </p:nvSpPr>
        <p:spPr>
          <a:xfrm>
            <a:off x="932688" y="3493008"/>
            <a:ext cx="2176272" cy="0"/>
          </a:xfrm>
          <a:prstGeom prst="line">
            <a:avLst/>
          </a:prstGeom>
          <a:noFill/>
          <a:ln w="12700">
            <a:solidFill>
              <a:srgbClr val="E4E0D1"/>
            </a:solidFill>
            <a:prstDash val="solid"/>
          </a:ln>
        </p:spPr>
      </p:sp>
      <p:sp>
        <p:nvSpPr>
          <p:cNvPr id="12" name="Text 10"/>
          <p:cNvSpPr/>
          <p:nvPr/>
        </p:nvSpPr>
        <p:spPr>
          <a:xfrm>
            <a:off x="932688" y="3639312"/>
            <a:ext cx="2176272" cy="182880"/>
          </a:xfrm>
          <a:prstGeom prst="rect">
            <a:avLst/>
          </a:prstGeom>
          <a:noFill/>
          <a:ln/>
        </p:spPr>
        <p:txBody>
          <a:bodyPr wrap="square" lIns="0" tIns="0" rIns="0" bIns="0" rtlCol="0" anchor="ctr"/>
          <a:lstStyle/>
          <a:p>
            <a:pPr indent="0" marL="0">
              <a:buNone/>
            </a:pPr>
            <a:r>
              <a:rPr lang="en-US" sz="750" b="1" dirty="0">
                <a:solidFill>
                  <a:srgbClr val="6D7E74"/>
                </a:solidFill>
                <a:latin typeface="Calibri" pitchFamily="34" charset="0"/>
                <a:ea typeface="Calibri" pitchFamily="34" charset="-122"/>
                <a:cs typeface="Calibri" pitchFamily="34" charset="-120"/>
              </a:rPr>
              <a:t>CORE COMPETENCIES</a:t>
            </a:r>
            <a:endParaRPr lang="en-US" sz="750" dirty="0"/>
          </a:p>
        </p:txBody>
      </p:sp>
      <p:sp>
        <p:nvSpPr>
          <p:cNvPr id="13" name="Shape 11"/>
          <p:cNvSpPr/>
          <p:nvPr/>
        </p:nvSpPr>
        <p:spPr>
          <a:xfrm>
            <a:off x="932688" y="3886200"/>
            <a:ext cx="2176272" cy="219456"/>
          </a:xfrm>
          <a:prstGeom prst="roundRect">
            <a:avLst>
              <a:gd name="adj" fmla="val 50000"/>
            </a:avLst>
          </a:prstGeom>
          <a:solidFill>
            <a:srgbClr val="F4F2E9"/>
          </a:solidFill>
          <a:ln w="12700">
            <a:solidFill>
              <a:srgbClr val="E2DEC9"/>
            </a:solidFill>
            <a:prstDash val="solid"/>
          </a:ln>
        </p:spPr>
      </p:sp>
      <p:sp>
        <p:nvSpPr>
          <p:cNvPr id="14" name="Text 12"/>
          <p:cNvSpPr/>
          <p:nvPr/>
        </p:nvSpPr>
        <p:spPr>
          <a:xfrm>
            <a:off x="1024128" y="3886200"/>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PHP &amp; Laravel</a:t>
            </a:r>
            <a:endParaRPr lang="en-US" sz="850" dirty="0"/>
          </a:p>
        </p:txBody>
      </p:sp>
      <p:sp>
        <p:nvSpPr>
          <p:cNvPr id="15" name="Shape 13"/>
          <p:cNvSpPr/>
          <p:nvPr/>
        </p:nvSpPr>
        <p:spPr>
          <a:xfrm>
            <a:off x="932688" y="4151376"/>
            <a:ext cx="2176272" cy="219456"/>
          </a:xfrm>
          <a:prstGeom prst="roundRect">
            <a:avLst>
              <a:gd name="adj" fmla="val 50000"/>
            </a:avLst>
          </a:prstGeom>
          <a:solidFill>
            <a:srgbClr val="F4F2E9"/>
          </a:solidFill>
          <a:ln w="12700">
            <a:solidFill>
              <a:srgbClr val="E2DEC9"/>
            </a:solidFill>
            <a:prstDash val="solid"/>
          </a:ln>
        </p:spPr>
      </p:sp>
      <p:sp>
        <p:nvSpPr>
          <p:cNvPr id="16" name="Text 14"/>
          <p:cNvSpPr/>
          <p:nvPr/>
        </p:nvSpPr>
        <p:spPr>
          <a:xfrm>
            <a:off x="1024128" y="4151376"/>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Lumen Microservices</a:t>
            </a:r>
            <a:endParaRPr lang="en-US" sz="850" dirty="0"/>
          </a:p>
        </p:txBody>
      </p:sp>
      <p:sp>
        <p:nvSpPr>
          <p:cNvPr id="17" name="Shape 15"/>
          <p:cNvSpPr/>
          <p:nvPr/>
        </p:nvSpPr>
        <p:spPr>
          <a:xfrm>
            <a:off x="932688" y="4416552"/>
            <a:ext cx="2176272" cy="219456"/>
          </a:xfrm>
          <a:prstGeom prst="roundRect">
            <a:avLst>
              <a:gd name="adj" fmla="val 50000"/>
            </a:avLst>
          </a:prstGeom>
          <a:solidFill>
            <a:srgbClr val="F4F2E9"/>
          </a:solidFill>
          <a:ln w="12700">
            <a:solidFill>
              <a:srgbClr val="E2DEC9"/>
            </a:solidFill>
            <a:prstDash val="solid"/>
          </a:ln>
        </p:spPr>
      </p:sp>
      <p:sp>
        <p:nvSpPr>
          <p:cNvPr id="18" name="Text 16"/>
          <p:cNvSpPr/>
          <p:nvPr/>
        </p:nvSpPr>
        <p:spPr>
          <a:xfrm>
            <a:off x="1024128" y="4416552"/>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Go (Golang)</a:t>
            </a:r>
            <a:endParaRPr lang="en-US" sz="850" dirty="0"/>
          </a:p>
        </p:txBody>
      </p:sp>
      <p:sp>
        <p:nvSpPr>
          <p:cNvPr id="19" name="Shape 17"/>
          <p:cNvSpPr/>
          <p:nvPr/>
        </p:nvSpPr>
        <p:spPr>
          <a:xfrm>
            <a:off x="932688" y="4681728"/>
            <a:ext cx="2176272" cy="219456"/>
          </a:xfrm>
          <a:prstGeom prst="roundRect">
            <a:avLst>
              <a:gd name="adj" fmla="val 50000"/>
            </a:avLst>
          </a:prstGeom>
          <a:solidFill>
            <a:srgbClr val="F4F2E9"/>
          </a:solidFill>
          <a:ln w="12700">
            <a:solidFill>
              <a:srgbClr val="E2DEC9"/>
            </a:solidFill>
            <a:prstDash val="solid"/>
          </a:ln>
        </p:spPr>
      </p:sp>
      <p:sp>
        <p:nvSpPr>
          <p:cNvPr id="20" name="Text 18"/>
          <p:cNvSpPr/>
          <p:nvPr/>
        </p:nvSpPr>
        <p:spPr>
          <a:xfrm>
            <a:off x="1024128" y="4681728"/>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RESTful APIs</a:t>
            </a:r>
            <a:endParaRPr lang="en-US" sz="850" dirty="0"/>
          </a:p>
        </p:txBody>
      </p:sp>
      <p:sp>
        <p:nvSpPr>
          <p:cNvPr id="21" name="Shape 19"/>
          <p:cNvSpPr/>
          <p:nvPr/>
        </p:nvSpPr>
        <p:spPr>
          <a:xfrm>
            <a:off x="932688" y="4946904"/>
            <a:ext cx="2176272" cy="219456"/>
          </a:xfrm>
          <a:prstGeom prst="roundRect">
            <a:avLst>
              <a:gd name="adj" fmla="val 50000"/>
            </a:avLst>
          </a:prstGeom>
          <a:solidFill>
            <a:srgbClr val="F4F2E9"/>
          </a:solidFill>
          <a:ln w="12700">
            <a:solidFill>
              <a:srgbClr val="E2DEC9"/>
            </a:solidFill>
            <a:prstDash val="solid"/>
          </a:ln>
        </p:spPr>
      </p:sp>
      <p:sp>
        <p:nvSpPr>
          <p:cNvPr id="22" name="Text 20"/>
          <p:cNvSpPr/>
          <p:nvPr/>
        </p:nvSpPr>
        <p:spPr>
          <a:xfrm>
            <a:off x="1024128" y="4946904"/>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gRPC &amp; Protobuf</a:t>
            </a:r>
            <a:endParaRPr lang="en-US" sz="850" dirty="0"/>
          </a:p>
        </p:txBody>
      </p:sp>
      <p:sp>
        <p:nvSpPr>
          <p:cNvPr id="23" name="Shape 21"/>
          <p:cNvSpPr/>
          <p:nvPr/>
        </p:nvSpPr>
        <p:spPr>
          <a:xfrm>
            <a:off x="932688" y="5212080"/>
            <a:ext cx="2176272" cy="219456"/>
          </a:xfrm>
          <a:prstGeom prst="roundRect">
            <a:avLst>
              <a:gd name="adj" fmla="val 50000"/>
            </a:avLst>
          </a:prstGeom>
          <a:solidFill>
            <a:srgbClr val="F4F2E9"/>
          </a:solidFill>
          <a:ln w="12700">
            <a:solidFill>
              <a:srgbClr val="E2DEC9"/>
            </a:solidFill>
            <a:prstDash val="solid"/>
          </a:ln>
        </p:spPr>
      </p:sp>
      <p:sp>
        <p:nvSpPr>
          <p:cNvPr id="24" name="Text 22"/>
          <p:cNvSpPr/>
          <p:nvPr/>
        </p:nvSpPr>
        <p:spPr>
          <a:xfrm>
            <a:off x="1024128" y="5212080"/>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MCP AI Protocol</a:t>
            </a:r>
            <a:endParaRPr lang="en-US" sz="850" dirty="0"/>
          </a:p>
        </p:txBody>
      </p:sp>
      <p:sp>
        <p:nvSpPr>
          <p:cNvPr id="25" name="Shape 23"/>
          <p:cNvSpPr/>
          <p:nvPr/>
        </p:nvSpPr>
        <p:spPr>
          <a:xfrm>
            <a:off x="932688" y="5477256"/>
            <a:ext cx="2176272" cy="219456"/>
          </a:xfrm>
          <a:prstGeom prst="roundRect">
            <a:avLst>
              <a:gd name="adj" fmla="val 50000"/>
            </a:avLst>
          </a:prstGeom>
          <a:solidFill>
            <a:srgbClr val="F4F2E9"/>
          </a:solidFill>
          <a:ln w="12700">
            <a:solidFill>
              <a:srgbClr val="E2DEC9"/>
            </a:solidFill>
            <a:prstDash val="solid"/>
          </a:ln>
        </p:spPr>
      </p:sp>
      <p:sp>
        <p:nvSpPr>
          <p:cNvPr id="26" name="Text 24"/>
          <p:cNvSpPr/>
          <p:nvPr/>
        </p:nvSpPr>
        <p:spPr>
          <a:xfrm>
            <a:off x="1024128" y="5477256"/>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RBAC Security</a:t>
            </a:r>
            <a:endParaRPr lang="en-US" sz="850" dirty="0"/>
          </a:p>
        </p:txBody>
      </p:sp>
      <p:sp>
        <p:nvSpPr>
          <p:cNvPr id="27" name="Shape 25"/>
          <p:cNvSpPr/>
          <p:nvPr/>
        </p:nvSpPr>
        <p:spPr>
          <a:xfrm>
            <a:off x="3456432" y="1874520"/>
            <a:ext cx="2578608" cy="4462272"/>
          </a:xfrm>
          <a:prstGeom prst="roundRect">
            <a:avLst>
              <a:gd name="adj" fmla="val 6383"/>
            </a:avLst>
          </a:prstGeom>
          <a:solidFill>
            <a:srgbClr val="FFFFFF"/>
          </a:solidFill>
          <a:ln w="12700">
            <a:solidFill>
              <a:srgbClr val="E4E0D1"/>
            </a:solidFill>
            <a:prstDash val="solid"/>
          </a:ln>
        </p:spPr>
      </p:sp>
      <p:sp>
        <p:nvSpPr>
          <p:cNvPr id="28" name="Text 26"/>
          <p:cNvSpPr/>
          <p:nvPr/>
        </p:nvSpPr>
        <p:spPr>
          <a:xfrm>
            <a:off x="3657600" y="2029968"/>
            <a:ext cx="548640" cy="256032"/>
          </a:xfrm>
          <a:prstGeom prst="rect">
            <a:avLst/>
          </a:prstGeom>
          <a:noFill/>
          <a:ln/>
        </p:spPr>
        <p:txBody>
          <a:bodyPr wrap="square" lIns="0" tIns="0" rIns="0" bIns="0" rtlCol="0" anchor="ctr"/>
          <a:lstStyle/>
          <a:p>
            <a:pPr indent="0" marL="0">
              <a:buNone/>
            </a:pPr>
            <a:r>
              <a:rPr lang="en-US" sz="1600" b="1" dirty="0">
                <a:solidFill>
                  <a:srgbClr val="15803D"/>
                </a:solidFill>
                <a:latin typeface="Georgia" pitchFamily="34" charset="0"/>
                <a:ea typeface="Georgia" pitchFamily="34" charset="-122"/>
                <a:cs typeface="Georgia" pitchFamily="34" charset="-120"/>
              </a:rPr>
              <a:t>02</a:t>
            </a:r>
            <a:endParaRPr lang="en-US" sz="1600" dirty="0"/>
          </a:p>
        </p:txBody>
      </p:sp>
      <p:sp>
        <p:nvSpPr>
          <p:cNvPr id="29" name="Text 27"/>
          <p:cNvSpPr/>
          <p:nvPr/>
        </p:nvSpPr>
        <p:spPr>
          <a:xfrm>
            <a:off x="3657600" y="2331720"/>
            <a:ext cx="2176272" cy="384048"/>
          </a:xfrm>
          <a:prstGeom prst="rect">
            <a:avLst/>
          </a:prstGeom>
          <a:noFill/>
          <a:ln/>
        </p:spPr>
        <p:txBody>
          <a:bodyPr wrap="square" lIns="0" tIns="0" rIns="0" bIns="0" rtlCol="0" anchor="ctr"/>
          <a:lstStyle/>
          <a:p>
            <a:pPr indent="0" marL="0">
              <a:buNone/>
            </a:pPr>
            <a:r>
              <a:rPr lang="en-US" sz="1350" b="1" dirty="0">
                <a:solidFill>
                  <a:srgbClr val="131E18"/>
                </a:solidFill>
                <a:latin typeface="Georgia" pitchFamily="34" charset="0"/>
                <a:ea typeface="Georgia" pitchFamily="34" charset="-122"/>
                <a:cs typeface="Georgia" pitchFamily="34" charset="-120"/>
              </a:rPr>
              <a:t>Web &amp; Interfaces</a:t>
            </a:r>
            <a:endParaRPr lang="en-US" sz="1350" dirty="0"/>
          </a:p>
        </p:txBody>
      </p:sp>
      <p:sp>
        <p:nvSpPr>
          <p:cNvPr id="30" name="Text 28"/>
          <p:cNvSpPr/>
          <p:nvPr/>
        </p:nvSpPr>
        <p:spPr>
          <a:xfrm>
            <a:off x="3657600" y="2761488"/>
            <a:ext cx="2176272" cy="658368"/>
          </a:xfrm>
          <a:prstGeom prst="rect">
            <a:avLst/>
          </a:prstGeom>
          <a:noFill/>
          <a:ln/>
        </p:spPr>
        <p:txBody>
          <a:bodyPr wrap="square" lIns="0" tIns="0" rIns="0" bIns="0" rtlCol="0" anchor="ctr"/>
          <a:lstStyle/>
          <a:p>
            <a:pPr indent="0" marL="0">
              <a:lnSpc>
                <a:spcPct val="115000"/>
              </a:lnSpc>
              <a:buNone/>
            </a:pPr>
            <a:r>
              <a:rPr lang="en-US" sz="950" dirty="0">
                <a:solidFill>
                  <a:srgbClr val="3E4D44"/>
                </a:solidFill>
                <a:latin typeface="Calibri" pitchFamily="34" charset="0"/>
                <a:ea typeface="Calibri" pitchFamily="34" charset="-122"/>
                <a:cs typeface="Calibri" pitchFamily="34" charset="-120"/>
              </a:rPr>
              <a:t>Interactive, accessible, and fast web applications with crisp design systems and zero layout thrash.</a:t>
            </a:r>
            <a:endParaRPr lang="en-US" sz="950" dirty="0"/>
          </a:p>
        </p:txBody>
      </p:sp>
      <p:sp>
        <p:nvSpPr>
          <p:cNvPr id="31" name="Shape 29"/>
          <p:cNvSpPr/>
          <p:nvPr/>
        </p:nvSpPr>
        <p:spPr>
          <a:xfrm>
            <a:off x="3657600" y="3493008"/>
            <a:ext cx="2176272" cy="0"/>
          </a:xfrm>
          <a:prstGeom prst="line">
            <a:avLst/>
          </a:prstGeom>
          <a:noFill/>
          <a:ln w="12700">
            <a:solidFill>
              <a:srgbClr val="E4E0D1"/>
            </a:solidFill>
            <a:prstDash val="solid"/>
          </a:ln>
        </p:spPr>
      </p:sp>
      <p:sp>
        <p:nvSpPr>
          <p:cNvPr id="32" name="Text 30"/>
          <p:cNvSpPr/>
          <p:nvPr/>
        </p:nvSpPr>
        <p:spPr>
          <a:xfrm>
            <a:off x="3657600" y="3639312"/>
            <a:ext cx="2176272" cy="182880"/>
          </a:xfrm>
          <a:prstGeom prst="rect">
            <a:avLst/>
          </a:prstGeom>
          <a:noFill/>
          <a:ln/>
        </p:spPr>
        <p:txBody>
          <a:bodyPr wrap="square" lIns="0" tIns="0" rIns="0" bIns="0" rtlCol="0" anchor="ctr"/>
          <a:lstStyle/>
          <a:p>
            <a:pPr indent="0" marL="0">
              <a:buNone/>
            </a:pPr>
            <a:r>
              <a:rPr lang="en-US" sz="750" b="1" dirty="0">
                <a:solidFill>
                  <a:srgbClr val="6D7E74"/>
                </a:solidFill>
                <a:latin typeface="Calibri" pitchFamily="34" charset="0"/>
                <a:ea typeface="Calibri" pitchFamily="34" charset="-122"/>
                <a:cs typeface="Calibri" pitchFamily="34" charset="-120"/>
              </a:rPr>
              <a:t>CORE COMPETENCIES</a:t>
            </a:r>
            <a:endParaRPr lang="en-US" sz="750" dirty="0"/>
          </a:p>
        </p:txBody>
      </p:sp>
      <p:sp>
        <p:nvSpPr>
          <p:cNvPr id="33" name="Shape 31"/>
          <p:cNvSpPr/>
          <p:nvPr/>
        </p:nvSpPr>
        <p:spPr>
          <a:xfrm>
            <a:off x="3657600" y="3886200"/>
            <a:ext cx="2176272" cy="219456"/>
          </a:xfrm>
          <a:prstGeom prst="roundRect">
            <a:avLst>
              <a:gd name="adj" fmla="val 50000"/>
            </a:avLst>
          </a:prstGeom>
          <a:solidFill>
            <a:srgbClr val="F4F2E9"/>
          </a:solidFill>
          <a:ln w="12700">
            <a:solidFill>
              <a:srgbClr val="E2DEC9"/>
            </a:solidFill>
            <a:prstDash val="solid"/>
          </a:ln>
        </p:spPr>
      </p:sp>
      <p:sp>
        <p:nvSpPr>
          <p:cNvPr id="34" name="Text 32"/>
          <p:cNvSpPr/>
          <p:nvPr/>
        </p:nvSpPr>
        <p:spPr>
          <a:xfrm>
            <a:off x="3749040" y="3886200"/>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TypeScript</a:t>
            </a:r>
            <a:endParaRPr lang="en-US" sz="850" dirty="0"/>
          </a:p>
        </p:txBody>
      </p:sp>
      <p:sp>
        <p:nvSpPr>
          <p:cNvPr id="35" name="Shape 33"/>
          <p:cNvSpPr/>
          <p:nvPr/>
        </p:nvSpPr>
        <p:spPr>
          <a:xfrm>
            <a:off x="3657600" y="4151376"/>
            <a:ext cx="2176272" cy="219456"/>
          </a:xfrm>
          <a:prstGeom prst="roundRect">
            <a:avLst>
              <a:gd name="adj" fmla="val 50000"/>
            </a:avLst>
          </a:prstGeom>
          <a:solidFill>
            <a:srgbClr val="F4F2E9"/>
          </a:solidFill>
          <a:ln w="12700">
            <a:solidFill>
              <a:srgbClr val="E2DEC9"/>
            </a:solidFill>
            <a:prstDash val="solid"/>
          </a:ln>
        </p:spPr>
      </p:sp>
      <p:sp>
        <p:nvSpPr>
          <p:cNvPr id="36" name="Text 34"/>
          <p:cNvSpPr/>
          <p:nvPr/>
        </p:nvSpPr>
        <p:spPr>
          <a:xfrm>
            <a:off x="3749040" y="4151376"/>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React &amp; Next.js</a:t>
            </a:r>
            <a:endParaRPr lang="en-US" sz="850" dirty="0"/>
          </a:p>
        </p:txBody>
      </p:sp>
      <p:sp>
        <p:nvSpPr>
          <p:cNvPr id="37" name="Shape 35"/>
          <p:cNvSpPr/>
          <p:nvPr/>
        </p:nvSpPr>
        <p:spPr>
          <a:xfrm>
            <a:off x="3657600" y="4416552"/>
            <a:ext cx="2176272" cy="219456"/>
          </a:xfrm>
          <a:prstGeom prst="roundRect">
            <a:avLst>
              <a:gd name="adj" fmla="val 50000"/>
            </a:avLst>
          </a:prstGeom>
          <a:solidFill>
            <a:srgbClr val="F4F2E9"/>
          </a:solidFill>
          <a:ln w="12700">
            <a:solidFill>
              <a:srgbClr val="E2DEC9"/>
            </a:solidFill>
            <a:prstDash val="solid"/>
          </a:ln>
        </p:spPr>
      </p:sp>
      <p:sp>
        <p:nvSpPr>
          <p:cNvPr id="38" name="Text 36"/>
          <p:cNvSpPr/>
          <p:nvPr/>
        </p:nvSpPr>
        <p:spPr>
          <a:xfrm>
            <a:off x="3749040" y="4416552"/>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Vue.js 3 &amp; Vite</a:t>
            </a:r>
            <a:endParaRPr lang="en-US" sz="850" dirty="0"/>
          </a:p>
        </p:txBody>
      </p:sp>
      <p:sp>
        <p:nvSpPr>
          <p:cNvPr id="39" name="Shape 37"/>
          <p:cNvSpPr/>
          <p:nvPr/>
        </p:nvSpPr>
        <p:spPr>
          <a:xfrm>
            <a:off x="3657600" y="4681728"/>
            <a:ext cx="2176272" cy="219456"/>
          </a:xfrm>
          <a:prstGeom prst="roundRect">
            <a:avLst>
              <a:gd name="adj" fmla="val 50000"/>
            </a:avLst>
          </a:prstGeom>
          <a:solidFill>
            <a:srgbClr val="F4F2E9"/>
          </a:solidFill>
          <a:ln w="12700">
            <a:solidFill>
              <a:srgbClr val="E2DEC9"/>
            </a:solidFill>
            <a:prstDash val="solid"/>
          </a:ln>
        </p:spPr>
      </p:sp>
      <p:sp>
        <p:nvSpPr>
          <p:cNvPr id="40" name="Text 38"/>
          <p:cNvSpPr/>
          <p:nvPr/>
        </p:nvSpPr>
        <p:spPr>
          <a:xfrm>
            <a:off x="3749040" y="4681728"/>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Tailwind CSS</a:t>
            </a:r>
            <a:endParaRPr lang="en-US" sz="850" dirty="0"/>
          </a:p>
        </p:txBody>
      </p:sp>
      <p:sp>
        <p:nvSpPr>
          <p:cNvPr id="41" name="Shape 39"/>
          <p:cNvSpPr/>
          <p:nvPr/>
        </p:nvSpPr>
        <p:spPr>
          <a:xfrm>
            <a:off x="3657600" y="4946904"/>
            <a:ext cx="2176272" cy="219456"/>
          </a:xfrm>
          <a:prstGeom prst="roundRect">
            <a:avLst>
              <a:gd name="adj" fmla="val 50000"/>
            </a:avLst>
          </a:prstGeom>
          <a:solidFill>
            <a:srgbClr val="F4F2E9"/>
          </a:solidFill>
          <a:ln w="12700">
            <a:solidFill>
              <a:srgbClr val="E2DEC9"/>
            </a:solidFill>
            <a:prstDash val="solid"/>
          </a:ln>
        </p:spPr>
      </p:sp>
      <p:sp>
        <p:nvSpPr>
          <p:cNvPr id="42" name="Text 40"/>
          <p:cNvSpPr/>
          <p:nvPr/>
        </p:nvSpPr>
        <p:spPr>
          <a:xfrm>
            <a:off x="3749040" y="4946904"/>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HTML5 / Modern CSS</a:t>
            </a:r>
            <a:endParaRPr lang="en-US" sz="850" dirty="0"/>
          </a:p>
        </p:txBody>
      </p:sp>
      <p:sp>
        <p:nvSpPr>
          <p:cNvPr id="43" name="Shape 41"/>
          <p:cNvSpPr/>
          <p:nvPr/>
        </p:nvSpPr>
        <p:spPr>
          <a:xfrm>
            <a:off x="3657600" y="5212080"/>
            <a:ext cx="2176272" cy="219456"/>
          </a:xfrm>
          <a:prstGeom prst="roundRect">
            <a:avLst>
              <a:gd name="adj" fmla="val 50000"/>
            </a:avLst>
          </a:prstGeom>
          <a:solidFill>
            <a:srgbClr val="F4F2E9"/>
          </a:solidFill>
          <a:ln w="12700">
            <a:solidFill>
              <a:srgbClr val="E2DEC9"/>
            </a:solidFill>
            <a:prstDash val="solid"/>
          </a:ln>
        </p:spPr>
      </p:sp>
      <p:sp>
        <p:nvSpPr>
          <p:cNvPr id="44" name="Text 42"/>
          <p:cNvSpPr/>
          <p:nvPr/>
        </p:nvSpPr>
        <p:spPr>
          <a:xfrm>
            <a:off x="3749040" y="5212080"/>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GSAP Animation</a:t>
            </a:r>
            <a:endParaRPr lang="en-US" sz="850" dirty="0"/>
          </a:p>
        </p:txBody>
      </p:sp>
      <p:sp>
        <p:nvSpPr>
          <p:cNvPr id="45" name="Shape 43"/>
          <p:cNvSpPr/>
          <p:nvPr/>
        </p:nvSpPr>
        <p:spPr>
          <a:xfrm>
            <a:off x="3657600" y="5477256"/>
            <a:ext cx="2176272" cy="219456"/>
          </a:xfrm>
          <a:prstGeom prst="roundRect">
            <a:avLst>
              <a:gd name="adj" fmla="val 50000"/>
            </a:avLst>
          </a:prstGeom>
          <a:solidFill>
            <a:srgbClr val="F4F2E9"/>
          </a:solidFill>
          <a:ln w="12700">
            <a:solidFill>
              <a:srgbClr val="E2DEC9"/>
            </a:solidFill>
            <a:prstDash val="solid"/>
          </a:ln>
        </p:spPr>
      </p:sp>
      <p:sp>
        <p:nvSpPr>
          <p:cNvPr id="46" name="Text 44"/>
          <p:cNvSpPr/>
          <p:nvPr/>
        </p:nvSpPr>
        <p:spPr>
          <a:xfrm>
            <a:off x="3749040" y="5477256"/>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Component Systems</a:t>
            </a:r>
            <a:endParaRPr lang="en-US" sz="850" dirty="0"/>
          </a:p>
        </p:txBody>
      </p:sp>
      <p:sp>
        <p:nvSpPr>
          <p:cNvPr id="47" name="Shape 45"/>
          <p:cNvSpPr/>
          <p:nvPr/>
        </p:nvSpPr>
        <p:spPr>
          <a:xfrm>
            <a:off x="6181344" y="1874520"/>
            <a:ext cx="2578608" cy="4462272"/>
          </a:xfrm>
          <a:prstGeom prst="roundRect">
            <a:avLst>
              <a:gd name="adj" fmla="val 6383"/>
            </a:avLst>
          </a:prstGeom>
          <a:solidFill>
            <a:srgbClr val="FFFFFF"/>
          </a:solidFill>
          <a:ln w="12700">
            <a:solidFill>
              <a:srgbClr val="E4E0D1"/>
            </a:solidFill>
            <a:prstDash val="solid"/>
          </a:ln>
        </p:spPr>
      </p:sp>
      <p:sp>
        <p:nvSpPr>
          <p:cNvPr id="48" name="Text 46"/>
          <p:cNvSpPr/>
          <p:nvPr/>
        </p:nvSpPr>
        <p:spPr>
          <a:xfrm>
            <a:off x="6382512" y="2029968"/>
            <a:ext cx="548640" cy="256032"/>
          </a:xfrm>
          <a:prstGeom prst="rect">
            <a:avLst/>
          </a:prstGeom>
          <a:noFill/>
          <a:ln/>
        </p:spPr>
        <p:txBody>
          <a:bodyPr wrap="square" lIns="0" tIns="0" rIns="0" bIns="0" rtlCol="0" anchor="ctr"/>
          <a:lstStyle/>
          <a:p>
            <a:pPr indent="0" marL="0">
              <a:buNone/>
            </a:pPr>
            <a:r>
              <a:rPr lang="en-US" sz="1600" b="1" dirty="0">
                <a:solidFill>
                  <a:srgbClr val="15803D"/>
                </a:solidFill>
                <a:latin typeface="Georgia" pitchFamily="34" charset="0"/>
                <a:ea typeface="Georgia" pitchFamily="34" charset="-122"/>
                <a:cs typeface="Georgia" pitchFamily="34" charset="-120"/>
              </a:rPr>
              <a:t>03</a:t>
            </a:r>
            <a:endParaRPr lang="en-US" sz="1600" dirty="0"/>
          </a:p>
        </p:txBody>
      </p:sp>
      <p:sp>
        <p:nvSpPr>
          <p:cNvPr id="49" name="Text 47"/>
          <p:cNvSpPr/>
          <p:nvPr/>
        </p:nvSpPr>
        <p:spPr>
          <a:xfrm>
            <a:off x="6382512" y="2331720"/>
            <a:ext cx="2176272" cy="384048"/>
          </a:xfrm>
          <a:prstGeom prst="rect">
            <a:avLst/>
          </a:prstGeom>
          <a:noFill/>
          <a:ln/>
        </p:spPr>
        <p:txBody>
          <a:bodyPr wrap="square" lIns="0" tIns="0" rIns="0" bIns="0" rtlCol="0" anchor="ctr"/>
          <a:lstStyle/>
          <a:p>
            <a:pPr indent="0" marL="0">
              <a:buNone/>
            </a:pPr>
            <a:r>
              <a:rPr lang="en-US" sz="1350" b="1" dirty="0">
                <a:solidFill>
                  <a:srgbClr val="131E18"/>
                </a:solidFill>
                <a:latin typeface="Georgia" pitchFamily="34" charset="0"/>
                <a:ea typeface="Georgia" pitchFamily="34" charset="-122"/>
                <a:cs typeface="Georgia" pitchFamily="34" charset="-120"/>
              </a:rPr>
              <a:t>Mobile Engineering</a:t>
            </a:r>
            <a:endParaRPr lang="en-US" sz="1350" dirty="0"/>
          </a:p>
        </p:txBody>
      </p:sp>
      <p:sp>
        <p:nvSpPr>
          <p:cNvPr id="50" name="Text 48"/>
          <p:cNvSpPr/>
          <p:nvPr/>
        </p:nvSpPr>
        <p:spPr>
          <a:xfrm>
            <a:off x="6382512" y="2761488"/>
            <a:ext cx="2176272" cy="658368"/>
          </a:xfrm>
          <a:prstGeom prst="rect">
            <a:avLst/>
          </a:prstGeom>
          <a:noFill/>
          <a:ln/>
        </p:spPr>
        <p:txBody>
          <a:bodyPr wrap="square" lIns="0" tIns="0" rIns="0" bIns="0" rtlCol="0" anchor="ctr"/>
          <a:lstStyle/>
          <a:p>
            <a:pPr indent="0" marL="0">
              <a:lnSpc>
                <a:spcPct val="115000"/>
              </a:lnSpc>
              <a:buNone/>
            </a:pPr>
            <a:r>
              <a:rPr lang="en-US" sz="950" dirty="0">
                <a:solidFill>
                  <a:srgbClr val="3E4D44"/>
                </a:solidFill>
                <a:latin typeface="Calibri" pitchFamily="34" charset="0"/>
                <a:ea typeface="Calibri" pitchFamily="34" charset="-122"/>
                <a:cs typeface="Calibri" pitchFamily="34" charset="-120"/>
              </a:rPr>
              <a:t>Native and cross-platform mobile apps with fluid animations, offline caches, and hardware integrations.</a:t>
            </a:r>
            <a:endParaRPr lang="en-US" sz="950" dirty="0"/>
          </a:p>
        </p:txBody>
      </p:sp>
      <p:sp>
        <p:nvSpPr>
          <p:cNvPr id="51" name="Shape 49"/>
          <p:cNvSpPr/>
          <p:nvPr/>
        </p:nvSpPr>
        <p:spPr>
          <a:xfrm>
            <a:off x="6382512" y="3493008"/>
            <a:ext cx="2176272" cy="0"/>
          </a:xfrm>
          <a:prstGeom prst="line">
            <a:avLst/>
          </a:prstGeom>
          <a:noFill/>
          <a:ln w="12700">
            <a:solidFill>
              <a:srgbClr val="E4E0D1"/>
            </a:solidFill>
            <a:prstDash val="solid"/>
          </a:ln>
        </p:spPr>
      </p:sp>
      <p:sp>
        <p:nvSpPr>
          <p:cNvPr id="52" name="Text 50"/>
          <p:cNvSpPr/>
          <p:nvPr/>
        </p:nvSpPr>
        <p:spPr>
          <a:xfrm>
            <a:off x="6382512" y="3639312"/>
            <a:ext cx="2176272" cy="182880"/>
          </a:xfrm>
          <a:prstGeom prst="rect">
            <a:avLst/>
          </a:prstGeom>
          <a:noFill/>
          <a:ln/>
        </p:spPr>
        <p:txBody>
          <a:bodyPr wrap="square" lIns="0" tIns="0" rIns="0" bIns="0" rtlCol="0" anchor="ctr"/>
          <a:lstStyle/>
          <a:p>
            <a:pPr indent="0" marL="0">
              <a:buNone/>
            </a:pPr>
            <a:r>
              <a:rPr lang="en-US" sz="750" b="1" dirty="0">
                <a:solidFill>
                  <a:srgbClr val="6D7E74"/>
                </a:solidFill>
                <a:latin typeface="Calibri" pitchFamily="34" charset="0"/>
                <a:ea typeface="Calibri" pitchFamily="34" charset="-122"/>
                <a:cs typeface="Calibri" pitchFamily="34" charset="-120"/>
              </a:rPr>
              <a:t>CORE COMPETENCIES</a:t>
            </a:r>
            <a:endParaRPr lang="en-US" sz="750" dirty="0"/>
          </a:p>
        </p:txBody>
      </p:sp>
      <p:sp>
        <p:nvSpPr>
          <p:cNvPr id="53" name="Shape 51"/>
          <p:cNvSpPr/>
          <p:nvPr/>
        </p:nvSpPr>
        <p:spPr>
          <a:xfrm>
            <a:off x="6382512" y="3886200"/>
            <a:ext cx="2176272" cy="219456"/>
          </a:xfrm>
          <a:prstGeom prst="roundRect">
            <a:avLst>
              <a:gd name="adj" fmla="val 50000"/>
            </a:avLst>
          </a:prstGeom>
          <a:solidFill>
            <a:srgbClr val="F4F2E9"/>
          </a:solidFill>
          <a:ln w="12700">
            <a:solidFill>
              <a:srgbClr val="E2DEC9"/>
            </a:solidFill>
            <a:prstDash val="solid"/>
          </a:ln>
        </p:spPr>
      </p:sp>
      <p:sp>
        <p:nvSpPr>
          <p:cNvPr id="54" name="Text 52"/>
          <p:cNvSpPr/>
          <p:nvPr/>
        </p:nvSpPr>
        <p:spPr>
          <a:xfrm>
            <a:off x="6473952" y="3886200"/>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Flutter &amp; Dart</a:t>
            </a:r>
            <a:endParaRPr lang="en-US" sz="850" dirty="0"/>
          </a:p>
        </p:txBody>
      </p:sp>
      <p:sp>
        <p:nvSpPr>
          <p:cNvPr id="55" name="Shape 53"/>
          <p:cNvSpPr/>
          <p:nvPr/>
        </p:nvSpPr>
        <p:spPr>
          <a:xfrm>
            <a:off x="6382512" y="4151376"/>
            <a:ext cx="2176272" cy="219456"/>
          </a:xfrm>
          <a:prstGeom prst="roundRect">
            <a:avLst>
              <a:gd name="adj" fmla="val 50000"/>
            </a:avLst>
          </a:prstGeom>
          <a:solidFill>
            <a:srgbClr val="F4F2E9"/>
          </a:solidFill>
          <a:ln w="12700">
            <a:solidFill>
              <a:srgbClr val="E2DEC9"/>
            </a:solidFill>
            <a:prstDash val="solid"/>
          </a:ln>
        </p:spPr>
      </p:sp>
      <p:sp>
        <p:nvSpPr>
          <p:cNvPr id="56" name="Text 54"/>
          <p:cNvSpPr/>
          <p:nvPr/>
        </p:nvSpPr>
        <p:spPr>
          <a:xfrm>
            <a:off x="6473952" y="4151376"/>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Riverpod State Mgmt</a:t>
            </a:r>
            <a:endParaRPr lang="en-US" sz="850" dirty="0"/>
          </a:p>
        </p:txBody>
      </p:sp>
      <p:sp>
        <p:nvSpPr>
          <p:cNvPr id="57" name="Shape 55"/>
          <p:cNvSpPr/>
          <p:nvPr/>
        </p:nvSpPr>
        <p:spPr>
          <a:xfrm>
            <a:off x="6382512" y="4416552"/>
            <a:ext cx="2176272" cy="219456"/>
          </a:xfrm>
          <a:prstGeom prst="roundRect">
            <a:avLst>
              <a:gd name="adj" fmla="val 50000"/>
            </a:avLst>
          </a:prstGeom>
          <a:solidFill>
            <a:srgbClr val="F4F2E9"/>
          </a:solidFill>
          <a:ln w="12700">
            <a:solidFill>
              <a:srgbClr val="E2DEC9"/>
            </a:solidFill>
            <a:prstDash val="solid"/>
          </a:ln>
        </p:spPr>
      </p:sp>
      <p:sp>
        <p:nvSpPr>
          <p:cNvPr id="58" name="Text 56"/>
          <p:cNvSpPr/>
          <p:nvPr/>
        </p:nvSpPr>
        <p:spPr>
          <a:xfrm>
            <a:off x="6473952" y="4416552"/>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Kotlin (Android Native)</a:t>
            </a:r>
            <a:endParaRPr lang="en-US" sz="850" dirty="0"/>
          </a:p>
        </p:txBody>
      </p:sp>
      <p:sp>
        <p:nvSpPr>
          <p:cNvPr id="59" name="Shape 57"/>
          <p:cNvSpPr/>
          <p:nvPr/>
        </p:nvSpPr>
        <p:spPr>
          <a:xfrm>
            <a:off x="6382512" y="4681728"/>
            <a:ext cx="2176272" cy="219456"/>
          </a:xfrm>
          <a:prstGeom prst="roundRect">
            <a:avLst>
              <a:gd name="adj" fmla="val 50000"/>
            </a:avLst>
          </a:prstGeom>
          <a:solidFill>
            <a:srgbClr val="F4F2E9"/>
          </a:solidFill>
          <a:ln w="12700">
            <a:solidFill>
              <a:srgbClr val="E2DEC9"/>
            </a:solidFill>
            <a:prstDash val="solid"/>
          </a:ln>
        </p:spPr>
      </p:sp>
      <p:sp>
        <p:nvSpPr>
          <p:cNvPr id="60" name="Text 58"/>
          <p:cNvSpPr/>
          <p:nvPr/>
        </p:nvSpPr>
        <p:spPr>
          <a:xfrm>
            <a:off x="6473952" y="4681728"/>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Jetpack Compose</a:t>
            </a:r>
            <a:endParaRPr lang="en-US" sz="850" dirty="0"/>
          </a:p>
        </p:txBody>
      </p:sp>
      <p:sp>
        <p:nvSpPr>
          <p:cNvPr id="61" name="Shape 59"/>
          <p:cNvSpPr/>
          <p:nvPr/>
        </p:nvSpPr>
        <p:spPr>
          <a:xfrm>
            <a:off x="6382512" y="4946904"/>
            <a:ext cx="2176272" cy="219456"/>
          </a:xfrm>
          <a:prstGeom prst="roundRect">
            <a:avLst>
              <a:gd name="adj" fmla="val 50000"/>
            </a:avLst>
          </a:prstGeom>
          <a:solidFill>
            <a:srgbClr val="F4F2E9"/>
          </a:solidFill>
          <a:ln w="12700">
            <a:solidFill>
              <a:srgbClr val="E2DEC9"/>
            </a:solidFill>
            <a:prstDash val="solid"/>
          </a:ln>
        </p:spPr>
      </p:sp>
      <p:sp>
        <p:nvSpPr>
          <p:cNvPr id="62" name="Text 60"/>
          <p:cNvSpPr/>
          <p:nvPr/>
        </p:nvSpPr>
        <p:spPr>
          <a:xfrm>
            <a:off x="6473952" y="4946904"/>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React Native &amp; Expo</a:t>
            </a:r>
            <a:endParaRPr lang="en-US" sz="850" dirty="0"/>
          </a:p>
        </p:txBody>
      </p:sp>
      <p:sp>
        <p:nvSpPr>
          <p:cNvPr id="63" name="Shape 61"/>
          <p:cNvSpPr/>
          <p:nvPr/>
        </p:nvSpPr>
        <p:spPr>
          <a:xfrm>
            <a:off x="6382512" y="5212080"/>
            <a:ext cx="2176272" cy="219456"/>
          </a:xfrm>
          <a:prstGeom prst="roundRect">
            <a:avLst>
              <a:gd name="adj" fmla="val 50000"/>
            </a:avLst>
          </a:prstGeom>
          <a:solidFill>
            <a:srgbClr val="F4F2E9"/>
          </a:solidFill>
          <a:ln w="12700">
            <a:solidFill>
              <a:srgbClr val="E2DEC9"/>
            </a:solidFill>
            <a:prstDash val="solid"/>
          </a:ln>
        </p:spPr>
      </p:sp>
      <p:sp>
        <p:nvSpPr>
          <p:cNvPr id="64" name="Text 62"/>
          <p:cNvSpPr/>
          <p:nvPr/>
        </p:nvSpPr>
        <p:spPr>
          <a:xfrm>
            <a:off x="6473952" y="5212080"/>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SQLite / AsyncStorage</a:t>
            </a:r>
            <a:endParaRPr lang="en-US" sz="850" dirty="0"/>
          </a:p>
        </p:txBody>
      </p:sp>
      <p:sp>
        <p:nvSpPr>
          <p:cNvPr id="65" name="Shape 63"/>
          <p:cNvSpPr/>
          <p:nvPr/>
        </p:nvSpPr>
        <p:spPr>
          <a:xfrm>
            <a:off x="6382512" y="5477256"/>
            <a:ext cx="2176272" cy="219456"/>
          </a:xfrm>
          <a:prstGeom prst="roundRect">
            <a:avLst>
              <a:gd name="adj" fmla="val 50000"/>
            </a:avLst>
          </a:prstGeom>
          <a:solidFill>
            <a:srgbClr val="F4F2E9"/>
          </a:solidFill>
          <a:ln w="12700">
            <a:solidFill>
              <a:srgbClr val="E2DEC9"/>
            </a:solidFill>
            <a:prstDash val="solid"/>
          </a:ln>
        </p:spPr>
      </p:sp>
      <p:sp>
        <p:nvSpPr>
          <p:cNvPr id="66" name="Text 64"/>
          <p:cNvSpPr/>
          <p:nvPr/>
        </p:nvSpPr>
        <p:spPr>
          <a:xfrm>
            <a:off x="6473952" y="5477256"/>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Hardware Sensors</a:t>
            </a:r>
            <a:endParaRPr lang="en-US" sz="850" dirty="0"/>
          </a:p>
        </p:txBody>
      </p:sp>
      <p:sp>
        <p:nvSpPr>
          <p:cNvPr id="67" name="Shape 65"/>
          <p:cNvSpPr/>
          <p:nvPr/>
        </p:nvSpPr>
        <p:spPr>
          <a:xfrm>
            <a:off x="8906256" y="1874520"/>
            <a:ext cx="2578608" cy="4462272"/>
          </a:xfrm>
          <a:prstGeom prst="roundRect">
            <a:avLst>
              <a:gd name="adj" fmla="val 6383"/>
            </a:avLst>
          </a:prstGeom>
          <a:solidFill>
            <a:srgbClr val="FFFFFF"/>
          </a:solidFill>
          <a:ln w="12700">
            <a:solidFill>
              <a:srgbClr val="E4E0D1"/>
            </a:solidFill>
            <a:prstDash val="solid"/>
          </a:ln>
        </p:spPr>
      </p:sp>
      <p:sp>
        <p:nvSpPr>
          <p:cNvPr id="68" name="Text 66"/>
          <p:cNvSpPr/>
          <p:nvPr/>
        </p:nvSpPr>
        <p:spPr>
          <a:xfrm>
            <a:off x="9107424" y="2029968"/>
            <a:ext cx="548640" cy="256032"/>
          </a:xfrm>
          <a:prstGeom prst="rect">
            <a:avLst/>
          </a:prstGeom>
          <a:noFill/>
          <a:ln/>
        </p:spPr>
        <p:txBody>
          <a:bodyPr wrap="square" lIns="0" tIns="0" rIns="0" bIns="0" rtlCol="0" anchor="ctr"/>
          <a:lstStyle/>
          <a:p>
            <a:pPr indent="0" marL="0">
              <a:buNone/>
            </a:pPr>
            <a:r>
              <a:rPr lang="en-US" sz="1600" b="1" dirty="0">
                <a:solidFill>
                  <a:srgbClr val="15803D"/>
                </a:solidFill>
                <a:latin typeface="Georgia" pitchFamily="34" charset="0"/>
                <a:ea typeface="Georgia" pitchFamily="34" charset="-122"/>
                <a:cs typeface="Georgia" pitchFamily="34" charset="-120"/>
              </a:rPr>
              <a:t>04</a:t>
            </a:r>
            <a:endParaRPr lang="en-US" sz="1600" dirty="0"/>
          </a:p>
        </p:txBody>
      </p:sp>
      <p:sp>
        <p:nvSpPr>
          <p:cNvPr id="69" name="Text 67"/>
          <p:cNvSpPr/>
          <p:nvPr/>
        </p:nvSpPr>
        <p:spPr>
          <a:xfrm>
            <a:off x="9107424" y="2331720"/>
            <a:ext cx="2176272" cy="384048"/>
          </a:xfrm>
          <a:prstGeom prst="rect">
            <a:avLst/>
          </a:prstGeom>
          <a:noFill/>
          <a:ln/>
        </p:spPr>
        <p:txBody>
          <a:bodyPr wrap="square" lIns="0" tIns="0" rIns="0" bIns="0" rtlCol="0" anchor="ctr"/>
          <a:lstStyle/>
          <a:p>
            <a:pPr indent="0" marL="0">
              <a:buNone/>
            </a:pPr>
            <a:r>
              <a:rPr lang="en-US" sz="1350" b="1" dirty="0">
                <a:solidFill>
                  <a:srgbClr val="131E18"/>
                </a:solidFill>
                <a:latin typeface="Georgia" pitchFamily="34" charset="0"/>
                <a:ea typeface="Georgia" pitchFamily="34" charset="-122"/>
                <a:cs typeface="Georgia" pitchFamily="34" charset="-120"/>
              </a:rPr>
              <a:t>Data &amp; Infrastructure</a:t>
            </a:r>
            <a:endParaRPr lang="en-US" sz="1350" dirty="0"/>
          </a:p>
        </p:txBody>
      </p:sp>
      <p:sp>
        <p:nvSpPr>
          <p:cNvPr id="70" name="Text 68"/>
          <p:cNvSpPr/>
          <p:nvPr/>
        </p:nvSpPr>
        <p:spPr>
          <a:xfrm>
            <a:off x="9107424" y="2761488"/>
            <a:ext cx="2176272" cy="658368"/>
          </a:xfrm>
          <a:prstGeom prst="rect">
            <a:avLst/>
          </a:prstGeom>
          <a:noFill/>
          <a:ln/>
        </p:spPr>
        <p:txBody>
          <a:bodyPr wrap="square" lIns="0" tIns="0" rIns="0" bIns="0" rtlCol="0" anchor="ctr"/>
          <a:lstStyle/>
          <a:p>
            <a:pPr indent="0" marL="0">
              <a:lnSpc>
                <a:spcPct val="115000"/>
              </a:lnSpc>
              <a:buNone/>
            </a:pPr>
            <a:r>
              <a:rPr lang="en-US" sz="950" dirty="0">
                <a:solidFill>
                  <a:srgbClr val="3E4D44"/>
                </a:solidFill>
                <a:latin typeface="Calibri" pitchFamily="34" charset="0"/>
                <a:ea typeface="Calibri" pitchFamily="34" charset="-122"/>
                <a:cs typeface="Calibri" pitchFamily="34" charset="-120"/>
              </a:rPr>
              <a:t>Normalized data models, real-time database synchronizations, and containerized deployment pipelines.</a:t>
            </a:r>
            <a:endParaRPr lang="en-US" sz="950" dirty="0"/>
          </a:p>
        </p:txBody>
      </p:sp>
      <p:sp>
        <p:nvSpPr>
          <p:cNvPr id="71" name="Shape 69"/>
          <p:cNvSpPr/>
          <p:nvPr/>
        </p:nvSpPr>
        <p:spPr>
          <a:xfrm>
            <a:off x="9107424" y="3493008"/>
            <a:ext cx="2176272" cy="0"/>
          </a:xfrm>
          <a:prstGeom prst="line">
            <a:avLst/>
          </a:prstGeom>
          <a:noFill/>
          <a:ln w="12700">
            <a:solidFill>
              <a:srgbClr val="E4E0D1"/>
            </a:solidFill>
            <a:prstDash val="solid"/>
          </a:ln>
        </p:spPr>
      </p:sp>
      <p:sp>
        <p:nvSpPr>
          <p:cNvPr id="72" name="Text 70"/>
          <p:cNvSpPr/>
          <p:nvPr/>
        </p:nvSpPr>
        <p:spPr>
          <a:xfrm>
            <a:off x="9107424" y="3639312"/>
            <a:ext cx="2176272" cy="182880"/>
          </a:xfrm>
          <a:prstGeom prst="rect">
            <a:avLst/>
          </a:prstGeom>
          <a:noFill/>
          <a:ln/>
        </p:spPr>
        <p:txBody>
          <a:bodyPr wrap="square" lIns="0" tIns="0" rIns="0" bIns="0" rtlCol="0" anchor="ctr"/>
          <a:lstStyle/>
          <a:p>
            <a:pPr indent="0" marL="0">
              <a:buNone/>
            </a:pPr>
            <a:r>
              <a:rPr lang="en-US" sz="750" b="1" dirty="0">
                <a:solidFill>
                  <a:srgbClr val="6D7E74"/>
                </a:solidFill>
                <a:latin typeface="Calibri" pitchFamily="34" charset="0"/>
                <a:ea typeface="Calibri" pitchFamily="34" charset="-122"/>
                <a:cs typeface="Calibri" pitchFamily="34" charset="-120"/>
              </a:rPr>
              <a:t>CORE COMPETENCIES</a:t>
            </a:r>
            <a:endParaRPr lang="en-US" sz="750" dirty="0"/>
          </a:p>
        </p:txBody>
      </p:sp>
      <p:sp>
        <p:nvSpPr>
          <p:cNvPr id="73" name="Shape 71"/>
          <p:cNvSpPr/>
          <p:nvPr/>
        </p:nvSpPr>
        <p:spPr>
          <a:xfrm>
            <a:off x="9107424" y="3886200"/>
            <a:ext cx="2176272" cy="219456"/>
          </a:xfrm>
          <a:prstGeom prst="roundRect">
            <a:avLst>
              <a:gd name="adj" fmla="val 50000"/>
            </a:avLst>
          </a:prstGeom>
          <a:solidFill>
            <a:srgbClr val="F4F2E9"/>
          </a:solidFill>
          <a:ln w="12700">
            <a:solidFill>
              <a:srgbClr val="E2DEC9"/>
            </a:solidFill>
            <a:prstDash val="solid"/>
          </a:ln>
        </p:spPr>
      </p:sp>
      <p:sp>
        <p:nvSpPr>
          <p:cNvPr id="74" name="Text 72"/>
          <p:cNvSpPr/>
          <p:nvPr/>
        </p:nvSpPr>
        <p:spPr>
          <a:xfrm>
            <a:off x="9198864" y="3886200"/>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PostgreSQL</a:t>
            </a:r>
            <a:endParaRPr lang="en-US" sz="850" dirty="0"/>
          </a:p>
        </p:txBody>
      </p:sp>
      <p:sp>
        <p:nvSpPr>
          <p:cNvPr id="75" name="Shape 73"/>
          <p:cNvSpPr/>
          <p:nvPr/>
        </p:nvSpPr>
        <p:spPr>
          <a:xfrm>
            <a:off x="9107424" y="4151376"/>
            <a:ext cx="2176272" cy="219456"/>
          </a:xfrm>
          <a:prstGeom prst="roundRect">
            <a:avLst>
              <a:gd name="adj" fmla="val 50000"/>
            </a:avLst>
          </a:prstGeom>
          <a:solidFill>
            <a:srgbClr val="F4F2E9"/>
          </a:solidFill>
          <a:ln w="12700">
            <a:solidFill>
              <a:srgbClr val="E2DEC9"/>
            </a:solidFill>
            <a:prstDash val="solid"/>
          </a:ln>
        </p:spPr>
      </p:sp>
      <p:sp>
        <p:nvSpPr>
          <p:cNvPr id="76" name="Text 74"/>
          <p:cNvSpPr/>
          <p:nvPr/>
        </p:nvSpPr>
        <p:spPr>
          <a:xfrm>
            <a:off x="9198864" y="4151376"/>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MySQL Tuning</a:t>
            </a:r>
            <a:endParaRPr lang="en-US" sz="850" dirty="0"/>
          </a:p>
        </p:txBody>
      </p:sp>
      <p:sp>
        <p:nvSpPr>
          <p:cNvPr id="77" name="Shape 75"/>
          <p:cNvSpPr/>
          <p:nvPr/>
        </p:nvSpPr>
        <p:spPr>
          <a:xfrm>
            <a:off x="9107424" y="4416552"/>
            <a:ext cx="2176272" cy="219456"/>
          </a:xfrm>
          <a:prstGeom prst="roundRect">
            <a:avLst>
              <a:gd name="adj" fmla="val 50000"/>
            </a:avLst>
          </a:prstGeom>
          <a:solidFill>
            <a:srgbClr val="F4F2E9"/>
          </a:solidFill>
          <a:ln w="12700">
            <a:solidFill>
              <a:srgbClr val="E2DEC9"/>
            </a:solidFill>
            <a:prstDash val="solid"/>
          </a:ln>
        </p:spPr>
      </p:sp>
      <p:sp>
        <p:nvSpPr>
          <p:cNvPr id="78" name="Text 76"/>
          <p:cNvSpPr/>
          <p:nvPr/>
        </p:nvSpPr>
        <p:spPr>
          <a:xfrm>
            <a:off x="9198864" y="4416552"/>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Redis In-Memory Cache</a:t>
            </a:r>
            <a:endParaRPr lang="en-US" sz="850" dirty="0"/>
          </a:p>
        </p:txBody>
      </p:sp>
      <p:sp>
        <p:nvSpPr>
          <p:cNvPr id="79" name="Shape 77"/>
          <p:cNvSpPr/>
          <p:nvPr/>
        </p:nvSpPr>
        <p:spPr>
          <a:xfrm>
            <a:off x="9107424" y="4681728"/>
            <a:ext cx="2176272" cy="219456"/>
          </a:xfrm>
          <a:prstGeom prst="roundRect">
            <a:avLst>
              <a:gd name="adj" fmla="val 50000"/>
            </a:avLst>
          </a:prstGeom>
          <a:solidFill>
            <a:srgbClr val="F4F2E9"/>
          </a:solidFill>
          <a:ln w="12700">
            <a:solidFill>
              <a:srgbClr val="E2DEC9"/>
            </a:solidFill>
            <a:prstDash val="solid"/>
          </a:ln>
        </p:spPr>
      </p:sp>
      <p:sp>
        <p:nvSpPr>
          <p:cNvPr id="80" name="Text 78"/>
          <p:cNvSpPr/>
          <p:nvPr/>
        </p:nvSpPr>
        <p:spPr>
          <a:xfrm>
            <a:off x="9198864" y="4681728"/>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Firebase Firestore</a:t>
            </a:r>
            <a:endParaRPr lang="en-US" sz="850" dirty="0"/>
          </a:p>
        </p:txBody>
      </p:sp>
      <p:sp>
        <p:nvSpPr>
          <p:cNvPr id="81" name="Shape 79"/>
          <p:cNvSpPr/>
          <p:nvPr/>
        </p:nvSpPr>
        <p:spPr>
          <a:xfrm>
            <a:off x="9107424" y="4946904"/>
            <a:ext cx="2176272" cy="219456"/>
          </a:xfrm>
          <a:prstGeom prst="roundRect">
            <a:avLst>
              <a:gd name="adj" fmla="val 50000"/>
            </a:avLst>
          </a:prstGeom>
          <a:solidFill>
            <a:srgbClr val="F4F2E9"/>
          </a:solidFill>
          <a:ln w="12700">
            <a:solidFill>
              <a:srgbClr val="E2DEC9"/>
            </a:solidFill>
            <a:prstDash val="solid"/>
          </a:ln>
        </p:spPr>
      </p:sp>
      <p:sp>
        <p:nvSpPr>
          <p:cNvPr id="82" name="Text 80"/>
          <p:cNvSpPr/>
          <p:nvPr/>
        </p:nvSpPr>
        <p:spPr>
          <a:xfrm>
            <a:off x="9198864" y="4946904"/>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Docker Containers</a:t>
            </a:r>
            <a:endParaRPr lang="en-US" sz="850" dirty="0"/>
          </a:p>
        </p:txBody>
      </p:sp>
      <p:sp>
        <p:nvSpPr>
          <p:cNvPr id="83" name="Shape 81"/>
          <p:cNvSpPr/>
          <p:nvPr/>
        </p:nvSpPr>
        <p:spPr>
          <a:xfrm>
            <a:off x="9107424" y="5212080"/>
            <a:ext cx="2176272" cy="219456"/>
          </a:xfrm>
          <a:prstGeom prst="roundRect">
            <a:avLst>
              <a:gd name="adj" fmla="val 50000"/>
            </a:avLst>
          </a:prstGeom>
          <a:solidFill>
            <a:srgbClr val="F4F2E9"/>
          </a:solidFill>
          <a:ln w="12700">
            <a:solidFill>
              <a:srgbClr val="E2DEC9"/>
            </a:solidFill>
            <a:prstDash val="solid"/>
          </a:ln>
        </p:spPr>
      </p:sp>
      <p:sp>
        <p:nvSpPr>
          <p:cNvPr id="84" name="Text 82"/>
          <p:cNvSpPr/>
          <p:nvPr/>
        </p:nvSpPr>
        <p:spPr>
          <a:xfrm>
            <a:off x="9198864" y="5212080"/>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AWS Cloud Services</a:t>
            </a:r>
            <a:endParaRPr lang="en-US" sz="850" dirty="0"/>
          </a:p>
        </p:txBody>
      </p:sp>
      <p:sp>
        <p:nvSpPr>
          <p:cNvPr id="85" name="Shape 83"/>
          <p:cNvSpPr/>
          <p:nvPr/>
        </p:nvSpPr>
        <p:spPr>
          <a:xfrm>
            <a:off x="9107424" y="5477256"/>
            <a:ext cx="2176272" cy="219456"/>
          </a:xfrm>
          <a:prstGeom prst="roundRect">
            <a:avLst>
              <a:gd name="adj" fmla="val 50000"/>
            </a:avLst>
          </a:prstGeom>
          <a:solidFill>
            <a:srgbClr val="F4F2E9"/>
          </a:solidFill>
          <a:ln w="12700">
            <a:solidFill>
              <a:srgbClr val="E2DEC9"/>
            </a:solidFill>
            <a:prstDash val="solid"/>
          </a:ln>
        </p:spPr>
      </p:sp>
      <p:sp>
        <p:nvSpPr>
          <p:cNvPr id="86" name="Text 84"/>
          <p:cNvSpPr/>
          <p:nvPr/>
        </p:nvSpPr>
        <p:spPr>
          <a:xfrm>
            <a:off x="9198864" y="5477256"/>
            <a:ext cx="1993392" cy="219456"/>
          </a:xfrm>
          <a:prstGeom prst="rect">
            <a:avLst/>
          </a:prstGeom>
          <a:noFill/>
          <a:ln/>
        </p:spPr>
        <p:txBody>
          <a:bodyPr wrap="square" lIns="0" tIns="0" rIns="0" bIns="0" rtlCol="0" anchor="ctr"/>
          <a:lstStyle/>
          <a:p>
            <a:pPr indent="0" marL="0">
              <a:buNone/>
            </a:pPr>
            <a:r>
              <a:rPr lang="en-US" sz="850" b="1" dirty="0">
                <a:solidFill>
                  <a:srgbClr val="131E18"/>
                </a:solidFill>
                <a:latin typeface="Calibri" pitchFamily="34" charset="0"/>
                <a:ea typeface="Calibri" pitchFamily="34" charset="-122"/>
                <a:cs typeface="Calibri" pitchFamily="34" charset="-120"/>
              </a:rPr>
              <a:t>Git CI/CD Workflows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EBF7EE"/>
          </a:solidFill>
          <a:ln w="12700">
            <a:solidFill>
              <a:srgbClr val="C2E5CD"/>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03 · CASE STUDY 01 / PLATFORM</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6D7E74"/>
                </a:solidFill>
                <a:latin typeface="Calibri" pitchFamily="34" charset="0"/>
                <a:ea typeface="Calibri" pitchFamily="34" charset="-122"/>
                <a:cs typeface="Calibri" pitchFamily="34" charset="-120"/>
              </a:rPr>
              <a:t>04 / 11</a:t>
            </a:r>
            <a:endParaRPr lang="en-US" sz="1000" dirty="0"/>
          </a:p>
        </p:txBody>
      </p:sp>
      <p:sp>
        <p:nvSpPr>
          <p:cNvPr id="5" name="Text 3"/>
          <p:cNvSpPr/>
          <p:nvPr/>
        </p:nvSpPr>
        <p:spPr>
          <a:xfrm>
            <a:off x="731520" y="859536"/>
            <a:ext cx="10698480" cy="475488"/>
          </a:xfrm>
          <a:prstGeom prst="rect">
            <a:avLst/>
          </a:prstGeom>
          <a:noFill/>
          <a:ln/>
        </p:spPr>
        <p:txBody>
          <a:bodyPr wrap="square" lIns="0" tIns="0" rIns="0" bIns="0" rtlCol="0" anchor="t"/>
          <a:lstStyle/>
          <a:p>
            <a:pPr indent="0" marL="0">
              <a:buNone/>
            </a:pPr>
            <a:r>
              <a:rPr lang="en-US" sz="2400" b="1" dirty="0">
                <a:solidFill>
                  <a:srgbClr val="131E18"/>
                </a:solidFill>
                <a:latin typeface="Georgia" pitchFamily="34" charset="0"/>
                <a:ea typeface="Georgia" pitchFamily="34" charset="-122"/>
                <a:cs typeface="Georgia" pitchFamily="34" charset="-120"/>
              </a:rPr>
              <a:t>OpsFlow: Enterprise Service Desk &amp; Asset Control</a:t>
            </a:r>
            <a:endParaRPr lang="en-US" sz="2400" dirty="0"/>
          </a:p>
        </p:txBody>
      </p:sp>
      <p:sp>
        <p:nvSpPr>
          <p:cNvPr id="6" name="Text 4"/>
          <p:cNvSpPr/>
          <p:nvPr/>
        </p:nvSpPr>
        <p:spPr>
          <a:xfrm>
            <a:off x="731520" y="1371600"/>
            <a:ext cx="10698480" cy="292608"/>
          </a:xfrm>
          <a:prstGeom prst="rect">
            <a:avLst/>
          </a:prstGeom>
          <a:noFill/>
          <a:ln/>
        </p:spPr>
        <p:txBody>
          <a:bodyPr wrap="square" lIns="0" tIns="0" rIns="0" bIns="0" rtlCol="0" anchor="t"/>
          <a:lstStyle/>
          <a:p>
            <a:pPr indent="0" marL="0">
              <a:buNone/>
            </a:pPr>
            <a:r>
              <a:rPr lang="en-US" sz="1250" dirty="0">
                <a:solidFill>
                  <a:srgbClr val="3E4D44"/>
                </a:solidFill>
                <a:latin typeface="Calibri" pitchFamily="34" charset="0"/>
                <a:ea typeface="Calibri" pitchFamily="34" charset="-122"/>
                <a:cs typeface="Calibri" pitchFamily="34" charset="-120"/>
              </a:rPr>
              <a:t>Make internal IT work visible, assignable, and auditable from initial request to resolution.</a:t>
            </a:r>
            <a:endParaRPr lang="en-US" sz="1250" dirty="0"/>
          </a:p>
        </p:txBody>
      </p:sp>
      <p:sp>
        <p:nvSpPr>
          <p:cNvPr id="7" name="Shape 5"/>
          <p:cNvSpPr/>
          <p:nvPr/>
        </p:nvSpPr>
        <p:spPr>
          <a:xfrm>
            <a:off x="731520" y="1874520"/>
            <a:ext cx="4389120" cy="4434840"/>
          </a:xfrm>
          <a:prstGeom prst="roundRect">
            <a:avLst>
              <a:gd name="adj" fmla="val 3750"/>
            </a:avLst>
          </a:prstGeom>
          <a:solidFill>
            <a:srgbClr val="FFFFFF"/>
          </a:solidFill>
          <a:ln w="12700">
            <a:solidFill>
              <a:srgbClr val="E4E0D1"/>
            </a:solidFill>
            <a:prstDash val="solid"/>
          </a:ln>
        </p:spPr>
      </p:sp>
      <p:sp>
        <p:nvSpPr>
          <p:cNvPr id="8" name="Shape 6"/>
          <p:cNvSpPr/>
          <p:nvPr/>
        </p:nvSpPr>
        <p:spPr>
          <a:xfrm>
            <a:off x="1005840" y="2103120"/>
            <a:ext cx="2286000" cy="256032"/>
          </a:xfrm>
          <a:prstGeom prst="roundRect">
            <a:avLst>
              <a:gd name="adj" fmla="val 50000"/>
            </a:avLst>
          </a:prstGeom>
          <a:solidFill>
            <a:srgbClr val="EBF7EE"/>
          </a:solidFill>
          <a:ln w="12700">
            <a:solidFill>
              <a:srgbClr val="C2E5CD"/>
            </a:solidFill>
            <a:prstDash val="solid"/>
          </a:ln>
        </p:spPr>
      </p:sp>
      <p:sp>
        <p:nvSpPr>
          <p:cNvPr id="9" name="Text 7"/>
          <p:cNvSpPr/>
          <p:nvPr/>
        </p:nvSpPr>
        <p:spPr>
          <a:xfrm>
            <a:off x="1005840" y="2103120"/>
            <a:ext cx="2286000" cy="256032"/>
          </a:xfrm>
          <a:prstGeom prst="rect">
            <a:avLst/>
          </a:prstGeom>
          <a:noFill/>
          <a:ln/>
        </p:spPr>
        <p:txBody>
          <a:bodyPr wrap="square" lIns="0" tIns="0" rIns="0" bIns="0" rtlCol="0" anchor="ctr"/>
          <a:lstStyle/>
          <a:p>
            <a:pPr algn="ctr" indent="0" marL="0">
              <a:buNone/>
            </a:pPr>
            <a:r>
              <a:rPr lang="en-US" sz="800" b="1" dirty="0">
                <a:solidFill>
                  <a:srgbClr val="15803D"/>
                </a:solidFill>
                <a:latin typeface="Calibri" pitchFamily="34" charset="0"/>
                <a:ea typeface="Calibri" pitchFamily="34" charset="-122"/>
                <a:cs typeface="Calibri" pitchFamily="34" charset="-120"/>
              </a:rPr>
              <a:t>SERVICE DESK / WEB PLATFORM</a:t>
            </a:r>
            <a:endParaRPr lang="en-US" sz="800" dirty="0"/>
          </a:p>
        </p:txBody>
      </p:sp>
      <p:sp>
        <p:nvSpPr>
          <p:cNvPr id="10" name="Text 8"/>
          <p:cNvSpPr/>
          <p:nvPr/>
        </p:nvSpPr>
        <p:spPr>
          <a:xfrm>
            <a:off x="1005840" y="2468880"/>
            <a:ext cx="3840480" cy="411480"/>
          </a:xfrm>
          <a:prstGeom prst="rect">
            <a:avLst/>
          </a:prstGeom>
          <a:noFill/>
          <a:ln/>
        </p:spPr>
        <p:txBody>
          <a:bodyPr wrap="square" lIns="0" tIns="0" rIns="0" bIns="0" rtlCol="0" anchor="ctr"/>
          <a:lstStyle/>
          <a:p>
            <a:pPr indent="0" marL="0">
              <a:buNone/>
            </a:pPr>
            <a:r>
              <a:rPr lang="en-US" sz="2000" b="1" dirty="0">
                <a:solidFill>
                  <a:srgbClr val="131E18"/>
                </a:solidFill>
                <a:latin typeface="Georgia" pitchFamily="34" charset="0"/>
                <a:ea typeface="Georgia" pitchFamily="34" charset="-122"/>
                <a:cs typeface="Georgia" pitchFamily="34" charset="-120"/>
              </a:rPr>
              <a:t>OpsFlow Platform</a:t>
            </a:r>
            <a:endParaRPr lang="en-US" sz="2000" dirty="0"/>
          </a:p>
        </p:txBody>
      </p:sp>
      <p:sp>
        <p:nvSpPr>
          <p:cNvPr id="11" name="Text 9"/>
          <p:cNvSpPr/>
          <p:nvPr/>
        </p:nvSpPr>
        <p:spPr>
          <a:xfrm>
            <a:off x="1005840" y="2971800"/>
            <a:ext cx="3840480" cy="1005840"/>
          </a:xfrm>
          <a:prstGeom prst="rect">
            <a:avLst/>
          </a:prstGeom>
          <a:noFill/>
          <a:ln/>
        </p:spPr>
        <p:txBody>
          <a:bodyPr wrap="square" lIns="0" tIns="0" rIns="0" bIns="0" rtlCol="0" anchor="ctr"/>
          <a:lstStyle/>
          <a:p>
            <a:pPr indent="0" marL="0">
              <a:lnSpc>
                <a:spcPct val="125000"/>
              </a:lnSpc>
              <a:buNone/>
            </a:pPr>
            <a:r>
              <a:rPr lang="en-US" sz="1100" dirty="0">
                <a:solidFill>
                  <a:srgbClr val="3E4D44"/>
                </a:solidFill>
                <a:latin typeface="Calibri" pitchFamily="34" charset="0"/>
                <a:ea typeface="Calibri" pitchFamily="34" charset="-122"/>
                <a:cs typeface="Calibri" pitchFamily="34" charset="-120"/>
              </a:rPr>
              <a:t>A full-featured internal operations and service desk platform built to eliminate lost tickets and opaque IT requests. Engineered with multi-role access controls, automated technician handoffs, audit histories, and asset allocation tracking.</a:t>
            </a:r>
            <a:endParaRPr lang="en-US" sz="1100" dirty="0"/>
          </a:p>
        </p:txBody>
      </p:sp>
      <p:sp>
        <p:nvSpPr>
          <p:cNvPr id="12" name="Text 10"/>
          <p:cNvSpPr/>
          <p:nvPr/>
        </p:nvSpPr>
        <p:spPr>
          <a:xfrm>
            <a:off x="1005840" y="4069080"/>
            <a:ext cx="3840480" cy="201168"/>
          </a:xfrm>
          <a:prstGeom prst="rect">
            <a:avLst/>
          </a:prstGeom>
          <a:noFill/>
          <a:ln/>
        </p:spPr>
        <p:txBody>
          <a:bodyPr wrap="square" lIns="0" tIns="0" rIns="0" bIns="0" rtlCol="0" anchor="ctr"/>
          <a:lstStyle/>
          <a:p>
            <a:pPr indent="0" marL="0">
              <a:buNone/>
            </a:pPr>
            <a:r>
              <a:rPr lang="en-US" sz="800" b="1" dirty="0">
                <a:solidFill>
                  <a:srgbClr val="6D7E74"/>
                </a:solidFill>
                <a:latin typeface="Calibri" pitchFamily="34" charset="0"/>
                <a:ea typeface="Calibri" pitchFamily="34" charset="-122"/>
                <a:cs typeface="Calibri" pitchFamily="34" charset="-120"/>
              </a:rPr>
              <a:t>KEY ARCHITECTURAL HIGHLIGHTS</a:t>
            </a:r>
            <a:endParaRPr lang="en-US" sz="800" dirty="0"/>
          </a:p>
        </p:txBody>
      </p:sp>
      <p:sp>
        <p:nvSpPr>
          <p:cNvPr id="13" name="Text 11"/>
          <p:cNvSpPr/>
          <p:nvPr/>
        </p:nvSpPr>
        <p:spPr>
          <a:xfrm>
            <a:off x="1005840" y="4343400"/>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Role-Based Access Control: </a:t>
            </a:r>
            <a:pPr indent="0" marL="0">
              <a:buNone/>
            </a:pPr>
            <a:r>
              <a:rPr lang="en-US" sz="900" dirty="0">
                <a:solidFill>
                  <a:srgbClr val="3E4D44"/>
                </a:solidFill>
              </a:rPr>
              <a:t>Strict separation for Admins, Technicians, and Department Requesters.</a:t>
            </a:r>
            <a:endParaRPr lang="en-US" sz="950" dirty="0"/>
          </a:p>
        </p:txBody>
      </p:sp>
      <p:sp>
        <p:nvSpPr>
          <p:cNvPr id="14" name="Text 12"/>
          <p:cNvSpPr/>
          <p:nvPr/>
        </p:nvSpPr>
        <p:spPr>
          <a:xfrm>
            <a:off x="1005840" y="4782312"/>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Ticket Lifecycle &amp; SLAs: </a:t>
            </a:r>
            <a:pPr indent="0" marL="0">
              <a:buNone/>
            </a:pPr>
            <a:r>
              <a:rPr lang="en-US" sz="900" dirty="0">
                <a:solidFill>
                  <a:srgbClr val="3E4D44"/>
                </a:solidFill>
              </a:rPr>
              <a:t>Real-time status transitions with automated escalation and notifications.</a:t>
            </a:r>
            <a:endParaRPr lang="en-US" sz="950" dirty="0"/>
          </a:p>
        </p:txBody>
      </p:sp>
      <p:sp>
        <p:nvSpPr>
          <p:cNvPr id="15" name="Text 13"/>
          <p:cNvSpPr/>
          <p:nvPr/>
        </p:nvSpPr>
        <p:spPr>
          <a:xfrm>
            <a:off x="1005840" y="5221224"/>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Asset Tracking &amp; Audit Log: </a:t>
            </a:r>
            <a:pPr indent="0" marL="0">
              <a:buNone/>
            </a:pPr>
            <a:r>
              <a:rPr lang="en-US" sz="900" dirty="0">
                <a:solidFill>
                  <a:srgbClr val="3E4D44"/>
                </a:solidFill>
              </a:rPr>
              <a:t>Immutable operational history for hardware, licenses, and assignments.</a:t>
            </a:r>
            <a:endParaRPr lang="en-US" sz="950" dirty="0"/>
          </a:p>
        </p:txBody>
      </p:sp>
      <p:sp>
        <p:nvSpPr>
          <p:cNvPr id="16" name="Text 14"/>
          <p:cNvSpPr/>
          <p:nvPr/>
        </p:nvSpPr>
        <p:spPr>
          <a:xfrm>
            <a:off x="1005840" y="5806440"/>
            <a:ext cx="3840480" cy="27432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TECH STACK: Laravel  ·  React  ·  TypeScript  ·  PostgreSQL  ·  Docker</a:t>
            </a:r>
            <a:endParaRPr lang="en-US" sz="850" dirty="0"/>
          </a:p>
        </p:txBody>
      </p:sp>
      <p:sp>
        <p:nvSpPr>
          <p:cNvPr id="17" name="Shape 15"/>
          <p:cNvSpPr/>
          <p:nvPr/>
        </p:nvSpPr>
        <p:spPr>
          <a:xfrm>
            <a:off x="5349240" y="1874520"/>
            <a:ext cx="6108192" cy="4434840"/>
          </a:xfrm>
          <a:prstGeom prst="roundRect">
            <a:avLst>
              <a:gd name="adj" fmla="val 3711"/>
            </a:avLst>
          </a:prstGeom>
          <a:solidFill>
            <a:srgbClr val="FFFFFF"/>
          </a:solidFill>
          <a:ln w="12700">
            <a:solidFill>
              <a:srgbClr val="E4E0D1"/>
            </a:solidFill>
            <a:prstDash val="solid"/>
          </a:ln>
        </p:spPr>
      </p:sp>
      <p:sp>
        <p:nvSpPr>
          <p:cNvPr id="18" name="Shape 16"/>
          <p:cNvSpPr/>
          <p:nvPr/>
        </p:nvSpPr>
        <p:spPr>
          <a:xfrm>
            <a:off x="5669280" y="2057400"/>
            <a:ext cx="5468112" cy="2743200"/>
          </a:xfrm>
          <a:prstGeom prst="rect">
            <a:avLst/>
          </a:prstGeom>
          <a:solidFill>
            <a:srgbClr val="F1F5F9"/>
          </a:solidFill>
          <a:ln w="12700">
            <a:solidFill>
              <a:srgbClr val="E4E0D1"/>
            </a:solidFill>
            <a:prstDash val="solid"/>
          </a:ln>
        </p:spPr>
      </p:sp>
      <p:pic>
        <p:nvPicPr>
          <p:cNvPr id="19" name="Image 0" descr="/Users/reikypratama/PortoFolio copy/public/images/ppt/opsflow.png">    </p:cNvPr>
          <p:cNvPicPr>
            <a:picLocks noChangeAspect="1"/>
          </p:cNvPicPr>
          <p:nvPr/>
        </p:nvPicPr>
        <p:blipFill>
          <a:blip r:embed="rId1"/>
          <a:stretch>
            <a:fillRect/>
          </a:stretch>
        </p:blipFill>
        <p:spPr>
          <a:xfrm>
            <a:off x="5669280" y="2057400"/>
            <a:ext cx="5468112" cy="2743200"/>
          </a:xfrm>
          <a:prstGeom prst="rect">
            <a:avLst/>
          </a:prstGeom>
        </p:spPr>
      </p:pic>
      <p:sp>
        <p:nvSpPr>
          <p:cNvPr id="20" name="Text 17"/>
          <p:cNvSpPr/>
          <p:nvPr/>
        </p:nvSpPr>
        <p:spPr>
          <a:xfrm>
            <a:off x="5669280" y="4864608"/>
            <a:ext cx="5468112" cy="201168"/>
          </a:xfrm>
          <a:prstGeom prst="rect">
            <a:avLst/>
          </a:prstGeom>
          <a:noFill/>
          <a:ln/>
        </p:spPr>
        <p:txBody>
          <a:bodyPr wrap="square" lIns="0" tIns="0" rIns="0" bIns="0" rtlCol="0" anchor="ctr"/>
          <a:lstStyle/>
          <a:p>
            <a:pPr indent="0" marL="0">
              <a:buNone/>
            </a:pPr>
            <a:r>
              <a:rPr lang="en-US" sz="850" i="1" dirty="0">
                <a:solidFill>
                  <a:srgbClr val="6D7E74"/>
                </a:solidFill>
                <a:latin typeface="Calibri" pitchFamily="34" charset="0"/>
                <a:ea typeface="Calibri" pitchFamily="34" charset="-122"/>
                <a:cs typeface="Calibri" pitchFamily="34" charset="-120"/>
              </a:rPr>
              <a:t>OpsFlow Operations Dashboard: Real-time ticket queues, SLA metrics &amp; status breakdown</a:t>
            </a:r>
            <a:endParaRPr lang="en-US" sz="850" dirty="0"/>
          </a:p>
        </p:txBody>
      </p:sp>
      <p:sp>
        <p:nvSpPr>
          <p:cNvPr id="21" name="Shape 18"/>
          <p:cNvSpPr/>
          <p:nvPr/>
        </p:nvSpPr>
        <p:spPr>
          <a:xfrm>
            <a:off x="5669280" y="5138928"/>
            <a:ext cx="5468112" cy="960120"/>
          </a:xfrm>
          <a:prstGeom prst="rect">
            <a:avLst/>
          </a:prstGeom>
          <a:solidFill>
            <a:srgbClr val="F1F5F9"/>
          </a:solidFill>
          <a:ln w="12700">
            <a:solidFill>
              <a:srgbClr val="E4E0D1"/>
            </a:solidFill>
            <a:prstDash val="solid"/>
          </a:ln>
        </p:spPr>
      </p:sp>
      <p:pic>
        <p:nvPicPr>
          <p:cNvPr id="22" name="Image 1" descr="/Users/reikypratama/PortoFolio copy/public/images/ppt/opsflow-detail.png">    </p:cNvPr>
          <p:cNvPicPr>
            <a:picLocks noChangeAspect="1"/>
          </p:cNvPicPr>
          <p:nvPr/>
        </p:nvPicPr>
        <p:blipFill>
          <a:blip r:embed="rId2"/>
          <a:stretch>
            <a:fillRect/>
          </a:stretch>
        </p:blipFill>
        <p:spPr>
          <a:xfrm>
            <a:off x="5669280" y="5138928"/>
            <a:ext cx="5468112" cy="9601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EBF7EE"/>
          </a:solidFill>
          <a:ln w="12700">
            <a:solidFill>
              <a:srgbClr val="C2E5CD"/>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04 · CASE STUDY 02 / MOBILE &amp; CLOUD</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6D7E74"/>
                </a:solidFill>
                <a:latin typeface="Calibri" pitchFamily="34" charset="0"/>
                <a:ea typeface="Calibri" pitchFamily="34" charset="-122"/>
                <a:cs typeface="Calibri" pitchFamily="34" charset="-120"/>
              </a:rPr>
              <a:t>05 / 11</a:t>
            </a:r>
            <a:endParaRPr lang="en-US" sz="1000" dirty="0"/>
          </a:p>
        </p:txBody>
      </p:sp>
      <p:sp>
        <p:nvSpPr>
          <p:cNvPr id="5" name="Text 3"/>
          <p:cNvSpPr/>
          <p:nvPr/>
        </p:nvSpPr>
        <p:spPr>
          <a:xfrm>
            <a:off x="731520" y="859536"/>
            <a:ext cx="10698480" cy="475488"/>
          </a:xfrm>
          <a:prstGeom prst="rect">
            <a:avLst/>
          </a:prstGeom>
          <a:noFill/>
          <a:ln/>
        </p:spPr>
        <p:txBody>
          <a:bodyPr wrap="square" lIns="0" tIns="0" rIns="0" bIns="0" rtlCol="0" anchor="t"/>
          <a:lstStyle/>
          <a:p>
            <a:pPr indent="0" marL="0">
              <a:buNone/>
            </a:pPr>
            <a:r>
              <a:rPr lang="en-US" sz="2400" b="1" dirty="0">
                <a:solidFill>
                  <a:srgbClr val="131E18"/>
                </a:solidFill>
                <a:latin typeface="Georgia" pitchFamily="34" charset="0"/>
                <a:ea typeface="Georgia" pitchFamily="34" charset="-122"/>
                <a:cs typeface="Georgia" pitchFamily="34" charset="-120"/>
              </a:rPr>
              <a:t>Kizen: Manga &amp; Comic Reader with Cloud Sync</a:t>
            </a:r>
            <a:endParaRPr lang="en-US" sz="2400" dirty="0"/>
          </a:p>
        </p:txBody>
      </p:sp>
      <p:sp>
        <p:nvSpPr>
          <p:cNvPr id="6" name="Text 4"/>
          <p:cNvSpPr/>
          <p:nvPr/>
        </p:nvSpPr>
        <p:spPr>
          <a:xfrm>
            <a:off x="731520" y="1371600"/>
            <a:ext cx="10698480" cy="292608"/>
          </a:xfrm>
          <a:prstGeom prst="rect">
            <a:avLst/>
          </a:prstGeom>
          <a:noFill/>
          <a:ln/>
        </p:spPr>
        <p:txBody>
          <a:bodyPr wrap="square" lIns="0" tIns="0" rIns="0" bIns="0" rtlCol="0" anchor="t"/>
          <a:lstStyle/>
          <a:p>
            <a:pPr indent="0" marL="0">
              <a:buNone/>
            </a:pPr>
            <a:r>
              <a:rPr lang="en-US" sz="1250" dirty="0">
                <a:solidFill>
                  <a:srgbClr val="3E4D44"/>
                </a:solidFill>
                <a:latin typeface="Calibri" pitchFamily="34" charset="0"/>
                <a:ea typeface="Calibri" pitchFamily="34" charset="-122"/>
                <a:cs typeface="Calibri" pitchFamily="34" charset="-120"/>
              </a:rPr>
              <a:t>A personal comic reader app built with Flutter, Riverpod, and multi-source cloud sync.</a:t>
            </a:r>
            <a:endParaRPr lang="en-US" sz="1250" dirty="0"/>
          </a:p>
        </p:txBody>
      </p:sp>
      <p:sp>
        <p:nvSpPr>
          <p:cNvPr id="7" name="Shape 5"/>
          <p:cNvSpPr/>
          <p:nvPr/>
        </p:nvSpPr>
        <p:spPr>
          <a:xfrm>
            <a:off x="731520" y="1874520"/>
            <a:ext cx="4389120" cy="4434840"/>
          </a:xfrm>
          <a:prstGeom prst="roundRect">
            <a:avLst>
              <a:gd name="adj" fmla="val 3750"/>
            </a:avLst>
          </a:prstGeom>
          <a:solidFill>
            <a:srgbClr val="FFFFFF"/>
          </a:solidFill>
          <a:ln w="12700">
            <a:solidFill>
              <a:srgbClr val="E4E0D1"/>
            </a:solidFill>
            <a:prstDash val="solid"/>
          </a:ln>
        </p:spPr>
      </p:sp>
      <p:sp>
        <p:nvSpPr>
          <p:cNvPr id="8" name="Shape 6"/>
          <p:cNvSpPr/>
          <p:nvPr/>
        </p:nvSpPr>
        <p:spPr>
          <a:xfrm>
            <a:off x="1005840" y="2103120"/>
            <a:ext cx="2377440" cy="256032"/>
          </a:xfrm>
          <a:prstGeom prst="roundRect">
            <a:avLst>
              <a:gd name="adj" fmla="val 50000"/>
            </a:avLst>
          </a:prstGeom>
          <a:solidFill>
            <a:srgbClr val="EBF7EE"/>
          </a:solidFill>
          <a:ln w="12700">
            <a:solidFill>
              <a:srgbClr val="C2E5CD"/>
            </a:solidFill>
            <a:prstDash val="solid"/>
          </a:ln>
        </p:spPr>
      </p:sp>
      <p:sp>
        <p:nvSpPr>
          <p:cNvPr id="9" name="Text 7"/>
          <p:cNvSpPr/>
          <p:nvPr/>
        </p:nvSpPr>
        <p:spPr>
          <a:xfrm>
            <a:off x="1005840" y="2103120"/>
            <a:ext cx="2377440" cy="256032"/>
          </a:xfrm>
          <a:prstGeom prst="rect">
            <a:avLst/>
          </a:prstGeom>
          <a:noFill/>
          <a:ln/>
        </p:spPr>
        <p:txBody>
          <a:bodyPr wrap="square" lIns="0" tIns="0" rIns="0" bIns="0" rtlCol="0" anchor="ctr"/>
          <a:lstStyle/>
          <a:p>
            <a:pPr algn="ctr" indent="0" marL="0">
              <a:buNone/>
            </a:pPr>
            <a:r>
              <a:rPr lang="en-US" sz="800" b="1" dirty="0">
                <a:solidFill>
                  <a:srgbClr val="15803D"/>
                </a:solidFill>
                <a:latin typeface="Calibri" pitchFamily="34" charset="0"/>
                <a:ea typeface="Calibri" pitchFamily="34" charset="-122"/>
                <a:cs typeface="Calibri" pitchFamily="34" charset="-120"/>
              </a:rPr>
              <a:t>MOBILE &amp; CLOUD / FLUTTER</a:t>
            </a:r>
            <a:endParaRPr lang="en-US" sz="800" dirty="0"/>
          </a:p>
        </p:txBody>
      </p:sp>
      <p:sp>
        <p:nvSpPr>
          <p:cNvPr id="10" name="Text 8"/>
          <p:cNvSpPr/>
          <p:nvPr/>
        </p:nvSpPr>
        <p:spPr>
          <a:xfrm>
            <a:off x="1005840" y="2468880"/>
            <a:ext cx="3840480" cy="411480"/>
          </a:xfrm>
          <a:prstGeom prst="rect">
            <a:avLst/>
          </a:prstGeom>
          <a:noFill/>
          <a:ln/>
        </p:spPr>
        <p:txBody>
          <a:bodyPr wrap="square" lIns="0" tIns="0" rIns="0" bIns="0" rtlCol="0" anchor="ctr"/>
          <a:lstStyle/>
          <a:p>
            <a:pPr indent="0" marL="0">
              <a:buNone/>
            </a:pPr>
            <a:r>
              <a:rPr lang="en-US" sz="2000" b="1" dirty="0">
                <a:solidFill>
                  <a:srgbClr val="131E18"/>
                </a:solidFill>
                <a:latin typeface="Georgia" pitchFamily="34" charset="0"/>
                <a:ea typeface="Georgia" pitchFamily="34" charset="-122"/>
                <a:cs typeface="Georgia" pitchFamily="34" charset="-120"/>
              </a:rPr>
              <a:t>Kizen Application</a:t>
            </a:r>
            <a:endParaRPr lang="en-US" sz="2000" dirty="0"/>
          </a:p>
        </p:txBody>
      </p:sp>
      <p:sp>
        <p:nvSpPr>
          <p:cNvPr id="11" name="Text 9"/>
          <p:cNvSpPr/>
          <p:nvPr/>
        </p:nvSpPr>
        <p:spPr>
          <a:xfrm>
            <a:off x="1005840" y="2971800"/>
            <a:ext cx="3840480" cy="1005840"/>
          </a:xfrm>
          <a:prstGeom prst="rect">
            <a:avLst/>
          </a:prstGeom>
          <a:noFill/>
          <a:ln/>
        </p:spPr>
        <p:txBody>
          <a:bodyPr wrap="square" lIns="0" tIns="0" rIns="0" bIns="0" rtlCol="0" anchor="ctr"/>
          <a:lstStyle/>
          <a:p>
            <a:pPr indent="0" marL="0">
              <a:lnSpc>
                <a:spcPct val="125000"/>
              </a:lnSpc>
              <a:buNone/>
            </a:pPr>
            <a:r>
              <a:rPr lang="en-US" sz="1100" dirty="0">
                <a:solidFill>
                  <a:srgbClr val="3E4D44"/>
                </a:solidFill>
                <a:latin typeface="Calibri" pitchFamily="34" charset="0"/>
                <a:ea typeface="Calibri" pitchFamily="34" charset="-122"/>
                <a:cs typeface="Calibri" pitchFamily="34" charset="-120"/>
              </a:rPr>
              <a:t>A cross-platform manga and comic reader application delivering a clean and lightweight reading experience. Engineered with Riverpod reactive state management, Tachiyomi-inspired library organization, and multi-source scraping architecture.</a:t>
            </a:r>
            <a:endParaRPr lang="en-US" sz="1100" dirty="0"/>
          </a:p>
        </p:txBody>
      </p:sp>
      <p:sp>
        <p:nvSpPr>
          <p:cNvPr id="12" name="Text 10"/>
          <p:cNvSpPr/>
          <p:nvPr/>
        </p:nvSpPr>
        <p:spPr>
          <a:xfrm>
            <a:off x="1005840" y="4069080"/>
            <a:ext cx="3840480" cy="201168"/>
          </a:xfrm>
          <a:prstGeom prst="rect">
            <a:avLst/>
          </a:prstGeom>
          <a:noFill/>
          <a:ln/>
        </p:spPr>
        <p:txBody>
          <a:bodyPr wrap="square" lIns="0" tIns="0" rIns="0" bIns="0" rtlCol="0" anchor="ctr"/>
          <a:lstStyle/>
          <a:p>
            <a:pPr indent="0" marL="0">
              <a:buNone/>
            </a:pPr>
            <a:r>
              <a:rPr lang="en-US" sz="800" b="1" dirty="0">
                <a:solidFill>
                  <a:srgbClr val="6D7E74"/>
                </a:solidFill>
                <a:latin typeface="Calibri" pitchFamily="34" charset="0"/>
                <a:ea typeface="Calibri" pitchFamily="34" charset="-122"/>
                <a:cs typeface="Calibri" pitchFamily="34" charset="-120"/>
              </a:rPr>
              <a:t>CORE CAPABILITIES &amp; ENGINEERING</a:t>
            </a:r>
            <a:endParaRPr lang="en-US" sz="800" dirty="0"/>
          </a:p>
        </p:txBody>
      </p:sp>
      <p:sp>
        <p:nvSpPr>
          <p:cNvPr id="13" name="Text 11"/>
          <p:cNvSpPr/>
          <p:nvPr/>
        </p:nvSpPr>
        <p:spPr>
          <a:xfrm>
            <a:off x="1005840" y="4343400"/>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Multi-Source Scrapers: </a:t>
            </a:r>
            <a:pPr indent="0" marL="0">
              <a:buNone/>
            </a:pPr>
            <a:r>
              <a:rPr lang="en-US" sz="900" dirty="0">
                <a:solidFill>
                  <a:srgbClr val="3E4D44"/>
                </a:solidFill>
              </a:rPr>
              <a:t>Modular extension architecture for fetching chapters dynamically.</a:t>
            </a:r>
            <a:endParaRPr lang="en-US" sz="950" dirty="0"/>
          </a:p>
        </p:txBody>
      </p:sp>
      <p:sp>
        <p:nvSpPr>
          <p:cNvPr id="14" name="Text 12"/>
          <p:cNvSpPr/>
          <p:nvPr/>
        </p:nvSpPr>
        <p:spPr>
          <a:xfrm>
            <a:off x="1005840" y="4782312"/>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Cloud Sync &amp; Progress: </a:t>
            </a:r>
            <a:pPr indent="0" marL="0">
              <a:buNone/>
            </a:pPr>
            <a:r>
              <a:rPr lang="en-US" sz="900" dirty="0">
                <a:solidFill>
                  <a:srgbClr val="3E4D44"/>
                </a:solidFill>
              </a:rPr>
              <a:t>Firebase Firestore syncing reading history across multiple devices.</a:t>
            </a:r>
            <a:endParaRPr lang="en-US" sz="950" dirty="0"/>
          </a:p>
        </p:txBody>
      </p:sp>
      <p:sp>
        <p:nvSpPr>
          <p:cNvPr id="15" name="Text 13"/>
          <p:cNvSpPr/>
          <p:nvPr/>
        </p:nvSpPr>
        <p:spPr>
          <a:xfrm>
            <a:off x="1005840" y="5221224"/>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Infinite Scroll Engine: </a:t>
            </a:r>
            <a:pPr indent="0" marL="0">
              <a:buNone/>
            </a:pPr>
            <a:r>
              <a:rPr lang="en-US" sz="900" dirty="0">
                <a:solidFill>
                  <a:srgbClr val="3E4D44"/>
                </a:solidFill>
              </a:rPr>
              <a:t>Preloaded image pipeline with zero stutter and memory-conscious caching.</a:t>
            </a:r>
            <a:endParaRPr lang="en-US" sz="950" dirty="0"/>
          </a:p>
        </p:txBody>
      </p:sp>
      <p:sp>
        <p:nvSpPr>
          <p:cNvPr id="16" name="Text 14"/>
          <p:cNvSpPr/>
          <p:nvPr/>
        </p:nvSpPr>
        <p:spPr>
          <a:xfrm>
            <a:off x="1005840" y="5806440"/>
            <a:ext cx="3840480" cy="27432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TECH STACK: Flutter  ·  Dart  ·  Riverpod  ·  Firebase  ·  Firestore</a:t>
            </a:r>
            <a:endParaRPr lang="en-US" sz="850" dirty="0"/>
          </a:p>
        </p:txBody>
      </p:sp>
      <p:sp>
        <p:nvSpPr>
          <p:cNvPr id="17" name="Shape 15"/>
          <p:cNvSpPr/>
          <p:nvPr/>
        </p:nvSpPr>
        <p:spPr>
          <a:xfrm>
            <a:off x="5349240" y="1874520"/>
            <a:ext cx="6108192" cy="4434840"/>
          </a:xfrm>
          <a:prstGeom prst="roundRect">
            <a:avLst>
              <a:gd name="adj" fmla="val 3711"/>
            </a:avLst>
          </a:prstGeom>
          <a:solidFill>
            <a:srgbClr val="FFFFFF"/>
          </a:solidFill>
          <a:ln w="12700">
            <a:solidFill>
              <a:srgbClr val="E4E0D1"/>
            </a:solidFill>
            <a:prstDash val="solid"/>
          </a:ln>
        </p:spPr>
      </p:sp>
      <p:sp>
        <p:nvSpPr>
          <p:cNvPr id="18" name="Shape 16"/>
          <p:cNvSpPr/>
          <p:nvPr/>
        </p:nvSpPr>
        <p:spPr>
          <a:xfrm>
            <a:off x="5596128" y="2029968"/>
            <a:ext cx="1783080" cy="3767328"/>
          </a:xfrm>
          <a:prstGeom prst="roundRect">
            <a:avLst>
              <a:gd name="adj" fmla="val 4103"/>
            </a:avLst>
          </a:prstGeom>
          <a:solidFill>
            <a:srgbClr val="0F172A"/>
          </a:solidFill>
          <a:ln w="19050">
            <a:solidFill>
              <a:srgbClr val="334155"/>
            </a:solidFill>
            <a:prstDash val="solid"/>
          </a:ln>
        </p:spPr>
      </p:sp>
      <p:pic>
        <p:nvPicPr>
          <p:cNvPr id="19" name="Image 0" descr="/Users/reikypratama/PortoFolio copy/public/images/ppt/kizen-welcome.png">    </p:cNvPr>
          <p:cNvPicPr>
            <a:picLocks noChangeAspect="1"/>
          </p:cNvPicPr>
          <p:nvPr/>
        </p:nvPicPr>
        <p:blipFill>
          <a:blip r:embed="rId1"/>
          <a:stretch>
            <a:fillRect/>
          </a:stretch>
        </p:blipFill>
        <p:spPr>
          <a:xfrm>
            <a:off x="5641848" y="2075688"/>
            <a:ext cx="1691640" cy="3675888"/>
          </a:xfrm>
          <a:prstGeom prst="rect">
            <a:avLst/>
          </a:prstGeom>
        </p:spPr>
      </p:pic>
      <p:sp>
        <p:nvSpPr>
          <p:cNvPr id="20" name="Text 17"/>
          <p:cNvSpPr/>
          <p:nvPr/>
        </p:nvSpPr>
        <p:spPr>
          <a:xfrm>
            <a:off x="5641848" y="5870448"/>
            <a:ext cx="1691640" cy="256032"/>
          </a:xfrm>
          <a:prstGeom prst="rect">
            <a:avLst/>
          </a:prstGeom>
          <a:noFill/>
          <a:ln/>
        </p:spPr>
        <p:txBody>
          <a:bodyPr wrap="square" lIns="0" tIns="0" rIns="0" bIns="0" rtlCol="0" anchor="ctr"/>
          <a:lstStyle/>
          <a:p>
            <a:pPr algn="ctr" indent="0" marL="0">
              <a:buNone/>
            </a:pPr>
            <a:r>
              <a:rPr lang="en-US" sz="850" b="1" dirty="0">
                <a:solidFill>
                  <a:srgbClr val="6D7E74"/>
                </a:solidFill>
                <a:latin typeface="Calibri" pitchFamily="34" charset="0"/>
                <a:ea typeface="Calibri" pitchFamily="34" charset="-122"/>
                <a:cs typeface="Calibri" pitchFamily="34" charset="-120"/>
              </a:rPr>
              <a:t>Cloud Sync Onboarding</a:t>
            </a:r>
            <a:endParaRPr lang="en-US" sz="850" dirty="0"/>
          </a:p>
        </p:txBody>
      </p:sp>
      <p:sp>
        <p:nvSpPr>
          <p:cNvPr id="21" name="Shape 18"/>
          <p:cNvSpPr/>
          <p:nvPr/>
        </p:nvSpPr>
        <p:spPr>
          <a:xfrm>
            <a:off x="7498080" y="2029968"/>
            <a:ext cx="1783080" cy="3767328"/>
          </a:xfrm>
          <a:prstGeom prst="roundRect">
            <a:avLst>
              <a:gd name="adj" fmla="val 4103"/>
            </a:avLst>
          </a:prstGeom>
          <a:solidFill>
            <a:srgbClr val="0F172A"/>
          </a:solidFill>
          <a:ln w="19050">
            <a:solidFill>
              <a:srgbClr val="334155"/>
            </a:solidFill>
            <a:prstDash val="solid"/>
          </a:ln>
        </p:spPr>
      </p:sp>
      <p:pic>
        <p:nvPicPr>
          <p:cNvPr id="22" name="Image 1" descr="/Users/reikypratama/PortoFolio copy/public/images/ppt/comic-library.png">    </p:cNvPr>
          <p:cNvPicPr>
            <a:picLocks noChangeAspect="1"/>
          </p:cNvPicPr>
          <p:nvPr/>
        </p:nvPicPr>
        <p:blipFill>
          <a:blip r:embed="rId2"/>
          <a:stretch>
            <a:fillRect/>
          </a:stretch>
        </p:blipFill>
        <p:spPr>
          <a:xfrm>
            <a:off x="7543800" y="2075688"/>
            <a:ext cx="1691640" cy="3675888"/>
          </a:xfrm>
          <a:prstGeom prst="rect">
            <a:avLst/>
          </a:prstGeom>
        </p:spPr>
      </p:pic>
      <p:sp>
        <p:nvSpPr>
          <p:cNvPr id="23" name="Text 19"/>
          <p:cNvSpPr/>
          <p:nvPr/>
        </p:nvSpPr>
        <p:spPr>
          <a:xfrm>
            <a:off x="7543800" y="5870448"/>
            <a:ext cx="1691640" cy="256032"/>
          </a:xfrm>
          <a:prstGeom prst="rect">
            <a:avLst/>
          </a:prstGeom>
          <a:noFill/>
          <a:ln/>
        </p:spPr>
        <p:txBody>
          <a:bodyPr wrap="square" lIns="0" tIns="0" rIns="0" bIns="0" rtlCol="0" anchor="ctr"/>
          <a:lstStyle/>
          <a:p>
            <a:pPr algn="ctr" indent="0" marL="0">
              <a:buNone/>
            </a:pPr>
            <a:r>
              <a:rPr lang="en-US" sz="850" b="1" dirty="0">
                <a:solidFill>
                  <a:srgbClr val="6D7E74"/>
                </a:solidFill>
                <a:latin typeface="Calibri" pitchFamily="34" charset="0"/>
                <a:ea typeface="Calibri" pitchFamily="34" charset="-122"/>
                <a:cs typeface="Calibri" pitchFamily="34" charset="-120"/>
              </a:rPr>
              <a:t>Library &amp; Collections</a:t>
            </a:r>
            <a:endParaRPr lang="en-US" sz="850" dirty="0"/>
          </a:p>
        </p:txBody>
      </p:sp>
      <p:sp>
        <p:nvSpPr>
          <p:cNvPr id="24" name="Shape 20"/>
          <p:cNvSpPr/>
          <p:nvPr/>
        </p:nvSpPr>
        <p:spPr>
          <a:xfrm>
            <a:off x="9400032" y="2029968"/>
            <a:ext cx="1783080" cy="3767328"/>
          </a:xfrm>
          <a:prstGeom prst="roundRect">
            <a:avLst>
              <a:gd name="adj" fmla="val 4103"/>
            </a:avLst>
          </a:prstGeom>
          <a:solidFill>
            <a:srgbClr val="0F172A"/>
          </a:solidFill>
          <a:ln w="19050">
            <a:solidFill>
              <a:srgbClr val="334155"/>
            </a:solidFill>
            <a:prstDash val="solid"/>
          </a:ln>
        </p:spPr>
      </p:sp>
      <p:pic>
        <p:nvPicPr>
          <p:cNvPr id="25" name="Image 2" descr="/Users/reikypratama/PortoFolio copy/public/images/ppt/comic-reader.png">    </p:cNvPr>
          <p:cNvPicPr>
            <a:picLocks noChangeAspect="1"/>
          </p:cNvPicPr>
          <p:nvPr/>
        </p:nvPicPr>
        <p:blipFill>
          <a:blip r:embed="rId3"/>
          <a:stretch>
            <a:fillRect/>
          </a:stretch>
        </p:blipFill>
        <p:spPr>
          <a:xfrm>
            <a:off x="9445752" y="2075688"/>
            <a:ext cx="1691640" cy="3675888"/>
          </a:xfrm>
          <a:prstGeom prst="rect">
            <a:avLst/>
          </a:prstGeom>
        </p:spPr>
      </p:pic>
      <p:sp>
        <p:nvSpPr>
          <p:cNvPr id="26" name="Text 21"/>
          <p:cNvSpPr/>
          <p:nvPr/>
        </p:nvSpPr>
        <p:spPr>
          <a:xfrm>
            <a:off x="9445752" y="5870448"/>
            <a:ext cx="1691640" cy="256032"/>
          </a:xfrm>
          <a:prstGeom prst="rect">
            <a:avLst/>
          </a:prstGeom>
          <a:noFill/>
          <a:ln/>
        </p:spPr>
        <p:txBody>
          <a:bodyPr wrap="square" lIns="0" tIns="0" rIns="0" bIns="0" rtlCol="0" anchor="ctr"/>
          <a:lstStyle/>
          <a:p>
            <a:pPr algn="ctr" indent="0" marL="0">
              <a:buNone/>
            </a:pPr>
            <a:r>
              <a:rPr lang="en-US" sz="850" b="1" dirty="0">
                <a:solidFill>
                  <a:srgbClr val="6D7E74"/>
                </a:solidFill>
                <a:latin typeface="Calibri" pitchFamily="34" charset="0"/>
                <a:ea typeface="Calibri" pitchFamily="34" charset="-122"/>
                <a:cs typeface="Calibri" pitchFamily="34" charset="-120"/>
              </a:rPr>
              <a:t>High-Res Infinite Reader</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EBF7EE"/>
          </a:solidFill>
          <a:ln w="12700">
            <a:solidFill>
              <a:srgbClr val="C2E5CD"/>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05 · CASE STUDY 03 / THESIS &amp; IOT</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6D7E74"/>
                </a:solidFill>
                <a:latin typeface="Calibri" pitchFamily="34" charset="0"/>
                <a:ea typeface="Calibri" pitchFamily="34" charset="-122"/>
                <a:cs typeface="Calibri" pitchFamily="34" charset="-120"/>
              </a:rPr>
              <a:t>06 / 11</a:t>
            </a:r>
            <a:endParaRPr lang="en-US" sz="1000" dirty="0"/>
          </a:p>
        </p:txBody>
      </p:sp>
      <p:sp>
        <p:nvSpPr>
          <p:cNvPr id="5" name="Text 3"/>
          <p:cNvSpPr/>
          <p:nvPr/>
        </p:nvSpPr>
        <p:spPr>
          <a:xfrm>
            <a:off x="731520" y="859536"/>
            <a:ext cx="10698480" cy="475488"/>
          </a:xfrm>
          <a:prstGeom prst="rect">
            <a:avLst/>
          </a:prstGeom>
          <a:noFill/>
          <a:ln/>
        </p:spPr>
        <p:txBody>
          <a:bodyPr wrap="square" lIns="0" tIns="0" rIns="0" bIns="0" rtlCol="0" anchor="t"/>
          <a:lstStyle/>
          <a:p>
            <a:pPr indent="0" marL="0">
              <a:buNone/>
            </a:pPr>
            <a:r>
              <a:rPr lang="en-US" sz="2400" b="1" dirty="0">
                <a:solidFill>
                  <a:srgbClr val="131E18"/>
                </a:solidFill>
                <a:latin typeface="Georgia" pitchFamily="34" charset="0"/>
                <a:ea typeface="Georgia" pitchFamily="34" charset="-122"/>
                <a:cs typeface="Georgia" pitchFamily="34" charset="-120"/>
              </a:rPr>
              <a:t>Park Masjid: IoT-Integrated Smart Mosque Parking</a:t>
            </a:r>
            <a:endParaRPr lang="en-US" sz="2400" dirty="0"/>
          </a:p>
        </p:txBody>
      </p:sp>
      <p:sp>
        <p:nvSpPr>
          <p:cNvPr id="6" name="Text 4"/>
          <p:cNvSpPr/>
          <p:nvPr/>
        </p:nvSpPr>
        <p:spPr>
          <a:xfrm>
            <a:off x="731520" y="1371600"/>
            <a:ext cx="10698480" cy="292608"/>
          </a:xfrm>
          <a:prstGeom prst="rect">
            <a:avLst/>
          </a:prstGeom>
          <a:noFill/>
          <a:ln/>
        </p:spPr>
        <p:txBody>
          <a:bodyPr wrap="square" lIns="0" tIns="0" rIns="0" bIns="0" rtlCol="0" anchor="t"/>
          <a:lstStyle/>
          <a:p>
            <a:pPr indent="0" marL="0">
              <a:buNone/>
            </a:pPr>
            <a:r>
              <a:rPr lang="en-US" sz="1250" dirty="0">
                <a:solidFill>
                  <a:srgbClr val="3E4D44"/>
                </a:solidFill>
                <a:latin typeface="Calibri" pitchFamily="34" charset="0"/>
                <a:ea typeface="Calibri" pitchFamily="34" charset="-122"/>
                <a:cs typeface="Calibri" pitchFamily="34" charset="-120"/>
              </a:rPr>
              <a:t>Hardware-integrated vehicle counter with realtime Firebase sync and prayer schedule automation.</a:t>
            </a:r>
            <a:endParaRPr lang="en-US" sz="1250" dirty="0"/>
          </a:p>
        </p:txBody>
      </p:sp>
      <p:sp>
        <p:nvSpPr>
          <p:cNvPr id="7" name="Shape 5"/>
          <p:cNvSpPr/>
          <p:nvPr/>
        </p:nvSpPr>
        <p:spPr>
          <a:xfrm>
            <a:off x="731520" y="1874520"/>
            <a:ext cx="4389120" cy="4434840"/>
          </a:xfrm>
          <a:prstGeom prst="roundRect">
            <a:avLst>
              <a:gd name="adj" fmla="val 3750"/>
            </a:avLst>
          </a:prstGeom>
          <a:solidFill>
            <a:srgbClr val="FFFFFF"/>
          </a:solidFill>
          <a:ln w="12700">
            <a:solidFill>
              <a:srgbClr val="E4E0D1"/>
            </a:solidFill>
            <a:prstDash val="solid"/>
          </a:ln>
        </p:spPr>
      </p:sp>
      <p:sp>
        <p:nvSpPr>
          <p:cNvPr id="8" name="Shape 6"/>
          <p:cNvSpPr/>
          <p:nvPr/>
        </p:nvSpPr>
        <p:spPr>
          <a:xfrm>
            <a:off x="1005840" y="2103120"/>
            <a:ext cx="2560320" cy="256032"/>
          </a:xfrm>
          <a:prstGeom prst="roundRect">
            <a:avLst>
              <a:gd name="adj" fmla="val 50000"/>
            </a:avLst>
          </a:prstGeom>
          <a:solidFill>
            <a:srgbClr val="EBF7EE"/>
          </a:solidFill>
          <a:ln w="12700">
            <a:solidFill>
              <a:srgbClr val="C2E5CD"/>
            </a:solidFill>
            <a:prstDash val="solid"/>
          </a:ln>
        </p:spPr>
      </p:sp>
      <p:sp>
        <p:nvSpPr>
          <p:cNvPr id="9" name="Text 7"/>
          <p:cNvSpPr/>
          <p:nvPr/>
        </p:nvSpPr>
        <p:spPr>
          <a:xfrm>
            <a:off x="1005840" y="2103120"/>
            <a:ext cx="2560320" cy="256032"/>
          </a:xfrm>
          <a:prstGeom prst="rect">
            <a:avLst/>
          </a:prstGeom>
          <a:noFill/>
          <a:ln/>
        </p:spPr>
        <p:txBody>
          <a:bodyPr wrap="square" lIns="0" tIns="0" rIns="0" bIns="0" rtlCol="0" anchor="ctr"/>
          <a:lstStyle/>
          <a:p>
            <a:pPr algn="ctr" indent="0" marL="0">
              <a:buNone/>
            </a:pPr>
            <a:r>
              <a:rPr lang="en-US" sz="800" b="1" dirty="0">
                <a:solidFill>
                  <a:srgbClr val="15803D"/>
                </a:solidFill>
                <a:latin typeface="Calibri" pitchFamily="34" charset="0"/>
                <a:ea typeface="Calibri" pitchFamily="34" charset="-122"/>
                <a:cs typeface="Calibri" pitchFamily="34" charset="-120"/>
              </a:rPr>
              <a:t>UNDERGRADUATE THESIS RESEARCH</a:t>
            </a:r>
            <a:endParaRPr lang="en-US" sz="800" dirty="0"/>
          </a:p>
        </p:txBody>
      </p:sp>
      <p:sp>
        <p:nvSpPr>
          <p:cNvPr id="10" name="Text 8"/>
          <p:cNvSpPr/>
          <p:nvPr/>
        </p:nvSpPr>
        <p:spPr>
          <a:xfrm>
            <a:off x="1005840" y="2468880"/>
            <a:ext cx="3840480" cy="411480"/>
          </a:xfrm>
          <a:prstGeom prst="rect">
            <a:avLst/>
          </a:prstGeom>
          <a:noFill/>
          <a:ln/>
        </p:spPr>
        <p:txBody>
          <a:bodyPr wrap="square" lIns="0" tIns="0" rIns="0" bIns="0" rtlCol="0" anchor="ctr"/>
          <a:lstStyle/>
          <a:p>
            <a:pPr indent="0" marL="0">
              <a:buNone/>
            </a:pPr>
            <a:r>
              <a:rPr lang="en-US" sz="2000" b="1" dirty="0">
                <a:solidFill>
                  <a:srgbClr val="131E18"/>
                </a:solidFill>
                <a:latin typeface="Georgia" pitchFamily="34" charset="0"/>
                <a:ea typeface="Georgia" pitchFamily="34" charset="-122"/>
                <a:cs typeface="Georgia" pitchFamily="34" charset="-120"/>
              </a:rPr>
              <a:t>Park Masjid Platform</a:t>
            </a:r>
            <a:endParaRPr lang="en-US" sz="2000" dirty="0"/>
          </a:p>
        </p:txBody>
      </p:sp>
      <p:sp>
        <p:nvSpPr>
          <p:cNvPr id="11" name="Text 9"/>
          <p:cNvSpPr/>
          <p:nvPr/>
        </p:nvSpPr>
        <p:spPr>
          <a:xfrm>
            <a:off x="1005840" y="2971800"/>
            <a:ext cx="3840480" cy="1143000"/>
          </a:xfrm>
          <a:prstGeom prst="rect">
            <a:avLst/>
          </a:prstGeom>
          <a:noFill/>
          <a:ln/>
        </p:spPr>
        <p:txBody>
          <a:bodyPr wrap="square" lIns="0" tIns="0" rIns="0" bIns="0" rtlCol="0" anchor="ctr"/>
          <a:lstStyle/>
          <a:p>
            <a:pPr indent="0" marL="0">
              <a:lnSpc>
                <a:spcPct val="125000"/>
              </a:lnSpc>
              <a:buNone/>
            </a:pPr>
            <a:r>
              <a:rPr lang="en-US" sz="1050" dirty="0">
                <a:solidFill>
                  <a:srgbClr val="3E4D44"/>
                </a:solidFill>
                <a:latin typeface="Calibri" pitchFamily="34" charset="0"/>
                <a:ea typeface="Calibri" pitchFamily="34" charset="-122"/>
                <a:cs typeface="Calibri" pitchFamily="34" charset="-120"/>
              </a:rPr>
              <a:t>An Android and IoT thesis system engineered to eliminate parking congestion at major congregational mosques. Directly connects gate sensors to Firebase Realtime Database to broadcast live parking availability to thousands of worshippers.</a:t>
            </a:r>
            <a:endParaRPr lang="en-US" sz="1050" dirty="0"/>
          </a:p>
          <a:p>
            <a:pPr indent="0" marL="0">
              <a:lnSpc>
                <a:spcPct val="125000"/>
              </a:lnSpc>
              <a:buNone/>
            </a:pPr>
            <a:endParaRPr lang="en-US" sz="1050" dirty="0"/>
          </a:p>
          <a:p>
            <a:pPr indent="0" marL="0">
              <a:lnSpc>
                <a:spcPct val="125000"/>
              </a:lnSpc>
              <a:buNone/>
            </a:pPr>
            <a:r>
              <a:rPr lang="en-US" sz="1050" dirty="0">
                <a:solidFill>
                  <a:srgbClr val="3E4D44"/>
                </a:solidFill>
                <a:latin typeface="Calibri" pitchFamily="34" charset="0"/>
                <a:ea typeface="Calibri" pitchFamily="34" charset="-122"/>
                <a:cs typeface="Calibri" pitchFamily="34" charset="-120"/>
              </a:rPr>
              <a:t>Published as academic research in Technologia: Jurnal Ilmiah (2026).</a:t>
            </a:r>
            <a:endParaRPr lang="en-US" sz="1050" dirty="0"/>
          </a:p>
        </p:txBody>
      </p:sp>
      <p:sp>
        <p:nvSpPr>
          <p:cNvPr id="12" name="Text 10"/>
          <p:cNvSpPr/>
          <p:nvPr/>
        </p:nvSpPr>
        <p:spPr>
          <a:xfrm>
            <a:off x="1005840" y="4206240"/>
            <a:ext cx="3840480" cy="201168"/>
          </a:xfrm>
          <a:prstGeom prst="rect">
            <a:avLst/>
          </a:prstGeom>
          <a:noFill/>
          <a:ln/>
        </p:spPr>
        <p:txBody>
          <a:bodyPr wrap="square" lIns="0" tIns="0" rIns="0" bIns="0" rtlCol="0" anchor="ctr"/>
          <a:lstStyle/>
          <a:p>
            <a:pPr indent="0" marL="0">
              <a:buNone/>
            </a:pPr>
            <a:r>
              <a:rPr lang="en-US" sz="800" b="1" dirty="0">
                <a:solidFill>
                  <a:srgbClr val="6D7E74"/>
                </a:solidFill>
                <a:latin typeface="Calibri" pitchFamily="34" charset="0"/>
                <a:ea typeface="Calibri" pitchFamily="34" charset="-122"/>
                <a:cs typeface="Calibri" pitchFamily="34" charset="-120"/>
              </a:rPr>
              <a:t>KEY INNOVATIONS &amp; ACHIEVEMENTS</a:t>
            </a:r>
            <a:endParaRPr lang="en-US" sz="800" dirty="0"/>
          </a:p>
        </p:txBody>
      </p:sp>
      <p:sp>
        <p:nvSpPr>
          <p:cNvPr id="13" name="Text 11"/>
          <p:cNvSpPr/>
          <p:nvPr/>
        </p:nvSpPr>
        <p:spPr>
          <a:xfrm>
            <a:off x="1005840" y="4462272"/>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Live Vehicle Counters: </a:t>
            </a:r>
            <a:pPr indent="0" marL="0">
              <a:buNone/>
            </a:pPr>
            <a:r>
              <a:rPr lang="en-US" sz="900" dirty="0">
                <a:solidFill>
                  <a:srgbClr val="3E4D44"/>
                </a:solidFill>
              </a:rPr>
              <a:t>Realtime updates for motorcycle and car parking slots via IoT sensors.</a:t>
            </a:r>
            <a:endParaRPr lang="en-US" sz="950" dirty="0"/>
          </a:p>
        </p:txBody>
      </p:sp>
      <p:sp>
        <p:nvSpPr>
          <p:cNvPr id="14" name="Text 12"/>
          <p:cNvSpPr/>
          <p:nvPr/>
        </p:nvSpPr>
        <p:spPr>
          <a:xfrm>
            <a:off x="1005840" y="4882896"/>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Administrator Control: </a:t>
            </a:r>
            <a:pPr indent="0" marL="0">
              <a:buNone/>
            </a:pPr>
            <a:r>
              <a:rPr lang="en-US" sz="900" dirty="0">
                <a:solidFill>
                  <a:srgbClr val="3E4D44"/>
                </a:solidFill>
              </a:rPr>
              <a:t>Live capacity overrides, security controls, and prayer schedule editor.</a:t>
            </a:r>
            <a:endParaRPr lang="en-US" sz="950" dirty="0"/>
          </a:p>
        </p:txBody>
      </p:sp>
      <p:sp>
        <p:nvSpPr>
          <p:cNvPr id="15" name="Text 13"/>
          <p:cNvSpPr/>
          <p:nvPr/>
        </p:nvSpPr>
        <p:spPr>
          <a:xfrm>
            <a:off x="1005840" y="5303520"/>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Published Research: </a:t>
            </a:r>
            <a:pPr indent="0" marL="0">
              <a:buNone/>
            </a:pPr>
            <a:r>
              <a:rPr lang="en-US" sz="900" dirty="0">
                <a:solidFill>
                  <a:srgbClr val="3E4D44"/>
                </a:solidFill>
              </a:rPr>
              <a:t>Peer-reviewed academic paper verifying hardware-to-app latency.</a:t>
            </a:r>
            <a:endParaRPr lang="en-US" sz="950" dirty="0"/>
          </a:p>
        </p:txBody>
      </p:sp>
      <p:sp>
        <p:nvSpPr>
          <p:cNvPr id="16" name="Text 14"/>
          <p:cNvSpPr/>
          <p:nvPr/>
        </p:nvSpPr>
        <p:spPr>
          <a:xfrm>
            <a:off x="1005840" y="5806440"/>
            <a:ext cx="3840480" cy="27432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TECH STACK: Kotlin  ·  Android SDK  ·  Firebase Realtime DB  ·  IoT  ·  Material 3</a:t>
            </a:r>
            <a:endParaRPr lang="en-US" sz="850" dirty="0"/>
          </a:p>
        </p:txBody>
      </p:sp>
      <p:sp>
        <p:nvSpPr>
          <p:cNvPr id="17" name="Shape 15"/>
          <p:cNvSpPr/>
          <p:nvPr/>
        </p:nvSpPr>
        <p:spPr>
          <a:xfrm>
            <a:off x="5349240" y="1874520"/>
            <a:ext cx="6108192" cy="4434840"/>
          </a:xfrm>
          <a:prstGeom prst="roundRect">
            <a:avLst>
              <a:gd name="adj" fmla="val 3711"/>
            </a:avLst>
          </a:prstGeom>
          <a:solidFill>
            <a:srgbClr val="FFFFFF"/>
          </a:solidFill>
          <a:ln w="12700">
            <a:solidFill>
              <a:srgbClr val="E4E0D1"/>
            </a:solidFill>
            <a:prstDash val="solid"/>
          </a:ln>
        </p:spPr>
      </p:sp>
      <p:sp>
        <p:nvSpPr>
          <p:cNvPr id="18" name="Shape 16"/>
          <p:cNvSpPr/>
          <p:nvPr/>
        </p:nvSpPr>
        <p:spPr>
          <a:xfrm>
            <a:off x="5669280" y="2029968"/>
            <a:ext cx="1874520" cy="3767328"/>
          </a:xfrm>
          <a:prstGeom prst="roundRect">
            <a:avLst>
              <a:gd name="adj" fmla="val 3902"/>
            </a:avLst>
          </a:prstGeom>
          <a:solidFill>
            <a:srgbClr val="0F172A"/>
          </a:solidFill>
          <a:ln w="19050">
            <a:solidFill>
              <a:srgbClr val="334155"/>
            </a:solidFill>
            <a:prstDash val="solid"/>
          </a:ln>
        </p:spPr>
      </p:sp>
      <p:pic>
        <p:nvPicPr>
          <p:cNvPr id="19" name="Image 0" descr="/Users/reikypratama/PortoFolio copy/public/images/ppt/park-masjid-app.png">    </p:cNvPr>
          <p:cNvPicPr>
            <a:picLocks noChangeAspect="1"/>
          </p:cNvPicPr>
          <p:nvPr/>
        </p:nvPicPr>
        <p:blipFill>
          <a:blip r:embed="rId1"/>
          <a:stretch>
            <a:fillRect/>
          </a:stretch>
        </p:blipFill>
        <p:spPr>
          <a:xfrm>
            <a:off x="5715000" y="2075688"/>
            <a:ext cx="1783080" cy="3675888"/>
          </a:xfrm>
          <a:prstGeom prst="rect">
            <a:avLst/>
          </a:prstGeom>
        </p:spPr>
      </p:pic>
      <p:sp>
        <p:nvSpPr>
          <p:cNvPr id="20" name="Text 17"/>
          <p:cNvSpPr/>
          <p:nvPr/>
        </p:nvSpPr>
        <p:spPr>
          <a:xfrm>
            <a:off x="5669280" y="5870448"/>
            <a:ext cx="1874520" cy="256032"/>
          </a:xfrm>
          <a:prstGeom prst="rect">
            <a:avLst/>
          </a:prstGeom>
          <a:noFill/>
          <a:ln/>
        </p:spPr>
        <p:txBody>
          <a:bodyPr wrap="square" lIns="0" tIns="0" rIns="0" bIns="0" rtlCol="0" anchor="ctr"/>
          <a:lstStyle/>
          <a:p>
            <a:pPr algn="ctr" indent="0" marL="0">
              <a:buNone/>
            </a:pPr>
            <a:r>
              <a:rPr lang="en-US" sz="850" b="1" dirty="0">
                <a:solidFill>
                  <a:srgbClr val="6D7E74"/>
                </a:solidFill>
                <a:latin typeface="Calibri" pitchFamily="34" charset="0"/>
                <a:ea typeface="Calibri" pitchFamily="34" charset="-122"/>
                <a:cs typeface="Calibri" pitchFamily="34" charset="-120"/>
              </a:rPr>
              <a:t>Visitor Live Slot Counter</a:t>
            </a:r>
            <a:endParaRPr lang="en-US" sz="850" dirty="0"/>
          </a:p>
        </p:txBody>
      </p:sp>
      <p:sp>
        <p:nvSpPr>
          <p:cNvPr id="21" name="Shape 18"/>
          <p:cNvSpPr/>
          <p:nvPr/>
        </p:nvSpPr>
        <p:spPr>
          <a:xfrm>
            <a:off x="7772400" y="2029968"/>
            <a:ext cx="3337560" cy="3767328"/>
          </a:xfrm>
          <a:prstGeom prst="rect">
            <a:avLst/>
          </a:prstGeom>
          <a:solidFill>
            <a:srgbClr val="F8FAFC"/>
          </a:solidFill>
          <a:ln w="19050">
            <a:solidFill>
              <a:srgbClr val="E4E0D1"/>
            </a:solidFill>
            <a:prstDash val="solid"/>
          </a:ln>
        </p:spPr>
      </p:sp>
      <p:pic>
        <p:nvPicPr>
          <p:cNvPr id="22" name="Image 1" descr="/Users/reikypratama/PortoFolio copy/public/images/ppt/park-masjid-admin.png">    </p:cNvPr>
          <p:cNvPicPr>
            <a:picLocks noChangeAspect="1"/>
          </p:cNvPicPr>
          <p:nvPr/>
        </p:nvPicPr>
        <p:blipFill>
          <a:blip r:embed="rId2"/>
          <a:stretch>
            <a:fillRect/>
          </a:stretch>
        </p:blipFill>
        <p:spPr>
          <a:xfrm>
            <a:off x="7818120" y="2075688"/>
            <a:ext cx="3246120" cy="3675888"/>
          </a:xfrm>
          <a:prstGeom prst="rect">
            <a:avLst/>
          </a:prstGeom>
        </p:spPr>
      </p:pic>
      <p:sp>
        <p:nvSpPr>
          <p:cNvPr id="23" name="Text 19"/>
          <p:cNvSpPr/>
          <p:nvPr/>
        </p:nvSpPr>
        <p:spPr>
          <a:xfrm>
            <a:off x="7772400" y="5870448"/>
            <a:ext cx="3337560" cy="256032"/>
          </a:xfrm>
          <a:prstGeom prst="rect">
            <a:avLst/>
          </a:prstGeom>
          <a:noFill/>
          <a:ln/>
        </p:spPr>
        <p:txBody>
          <a:bodyPr wrap="square" lIns="0" tIns="0" rIns="0" bIns="0" rtlCol="0" anchor="ctr"/>
          <a:lstStyle/>
          <a:p>
            <a:pPr algn="ctr" indent="0" marL="0">
              <a:buNone/>
            </a:pPr>
            <a:r>
              <a:rPr lang="en-US" sz="850" b="1" dirty="0">
                <a:solidFill>
                  <a:srgbClr val="6D7E74"/>
                </a:solidFill>
                <a:latin typeface="Calibri" pitchFamily="34" charset="0"/>
                <a:ea typeface="Calibri" pitchFamily="34" charset="-122"/>
                <a:cs typeface="Calibri" pitchFamily="34" charset="-120"/>
              </a:rPr>
              <a:t>Administrator Capacity &amp; Schedule Editor</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EBF7EE"/>
          </a:solidFill>
          <a:ln w="12700">
            <a:solidFill>
              <a:srgbClr val="C2E5CD"/>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06 · CASE STUDY 04 / RELIABILITY &amp; ARCHITECTURE</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6D7E74"/>
                </a:solidFill>
                <a:latin typeface="Calibri" pitchFamily="34" charset="0"/>
                <a:ea typeface="Calibri" pitchFamily="34" charset="-122"/>
                <a:cs typeface="Calibri" pitchFamily="34" charset="-120"/>
              </a:rPr>
              <a:t>07 / 11</a:t>
            </a:r>
            <a:endParaRPr lang="en-US" sz="1000" dirty="0"/>
          </a:p>
        </p:txBody>
      </p:sp>
      <p:sp>
        <p:nvSpPr>
          <p:cNvPr id="5" name="Text 3"/>
          <p:cNvSpPr/>
          <p:nvPr/>
        </p:nvSpPr>
        <p:spPr>
          <a:xfrm>
            <a:off x="731520" y="859536"/>
            <a:ext cx="10698480" cy="475488"/>
          </a:xfrm>
          <a:prstGeom prst="rect">
            <a:avLst/>
          </a:prstGeom>
          <a:noFill/>
          <a:ln/>
        </p:spPr>
        <p:txBody>
          <a:bodyPr wrap="square" lIns="0" tIns="0" rIns="0" bIns="0" rtlCol="0" anchor="t"/>
          <a:lstStyle/>
          <a:p>
            <a:pPr indent="0" marL="0">
              <a:buNone/>
            </a:pPr>
            <a:r>
              <a:rPr lang="en-US" sz="2400" b="1" dirty="0">
                <a:solidFill>
                  <a:srgbClr val="131E18"/>
                </a:solidFill>
                <a:latin typeface="Georgia" pitchFamily="34" charset="0"/>
                <a:ea typeface="Georgia" pitchFamily="34" charset="-122"/>
                <a:cs typeface="Georgia" pitchFamily="34" charset="-120"/>
              </a:rPr>
              <a:t>OrderForge &amp; Native Android Architecture</a:t>
            </a:r>
            <a:endParaRPr lang="en-US" sz="2400" dirty="0"/>
          </a:p>
        </p:txBody>
      </p:sp>
      <p:sp>
        <p:nvSpPr>
          <p:cNvPr id="6" name="Text 4"/>
          <p:cNvSpPr/>
          <p:nvPr/>
        </p:nvSpPr>
        <p:spPr>
          <a:xfrm>
            <a:off x="731520" y="1371600"/>
            <a:ext cx="10698480" cy="292608"/>
          </a:xfrm>
          <a:prstGeom prst="rect">
            <a:avLst/>
          </a:prstGeom>
          <a:noFill/>
          <a:ln/>
        </p:spPr>
        <p:txBody>
          <a:bodyPr wrap="square" lIns="0" tIns="0" rIns="0" bIns="0" rtlCol="0" anchor="t"/>
          <a:lstStyle/>
          <a:p>
            <a:pPr indent="0" marL="0">
              <a:buNone/>
            </a:pPr>
            <a:r>
              <a:rPr lang="en-US" sz="1250" dirty="0">
                <a:solidFill>
                  <a:srgbClr val="3E4D44"/>
                </a:solidFill>
                <a:latin typeface="Calibri" pitchFamily="34" charset="0"/>
                <a:ea typeface="Calibri" pitchFamily="34" charset="-122"/>
                <a:cs typeface="Calibri" pitchFamily="34" charset="-120"/>
              </a:rPr>
              <a:t>Explorations in e-commerce checkout consistency and clean native mobile architecture.</a:t>
            </a:r>
            <a:endParaRPr lang="en-US" sz="1250" dirty="0"/>
          </a:p>
        </p:txBody>
      </p:sp>
      <p:sp>
        <p:nvSpPr>
          <p:cNvPr id="7" name="Shape 5"/>
          <p:cNvSpPr/>
          <p:nvPr/>
        </p:nvSpPr>
        <p:spPr>
          <a:xfrm>
            <a:off x="731520" y="1874520"/>
            <a:ext cx="5212080" cy="4434840"/>
          </a:xfrm>
          <a:prstGeom prst="roundRect">
            <a:avLst>
              <a:gd name="adj" fmla="val 3711"/>
            </a:avLst>
          </a:prstGeom>
          <a:solidFill>
            <a:srgbClr val="FFFFFF"/>
          </a:solidFill>
          <a:ln w="12700">
            <a:solidFill>
              <a:srgbClr val="E4E0D1"/>
            </a:solidFill>
            <a:prstDash val="solid"/>
          </a:ln>
        </p:spPr>
      </p:sp>
      <p:sp>
        <p:nvSpPr>
          <p:cNvPr id="8" name="Shape 6"/>
          <p:cNvSpPr/>
          <p:nvPr/>
        </p:nvSpPr>
        <p:spPr>
          <a:xfrm>
            <a:off x="1051560" y="2103120"/>
            <a:ext cx="2286000" cy="256032"/>
          </a:xfrm>
          <a:prstGeom prst="roundRect">
            <a:avLst>
              <a:gd name="adj" fmla="val 50000"/>
            </a:avLst>
          </a:prstGeom>
          <a:solidFill>
            <a:srgbClr val="EBF7EE"/>
          </a:solidFill>
          <a:ln w="12700">
            <a:solidFill>
              <a:srgbClr val="C2E5CD"/>
            </a:solidFill>
            <a:prstDash val="solid"/>
          </a:ln>
        </p:spPr>
      </p:sp>
      <p:sp>
        <p:nvSpPr>
          <p:cNvPr id="9" name="Text 7"/>
          <p:cNvSpPr/>
          <p:nvPr/>
        </p:nvSpPr>
        <p:spPr>
          <a:xfrm>
            <a:off x="1051560" y="2103120"/>
            <a:ext cx="2286000" cy="256032"/>
          </a:xfrm>
          <a:prstGeom prst="rect">
            <a:avLst/>
          </a:prstGeom>
          <a:noFill/>
          <a:ln/>
        </p:spPr>
        <p:txBody>
          <a:bodyPr wrap="square" lIns="0" tIns="0" rIns="0" bIns="0" rtlCol="0" anchor="ctr"/>
          <a:lstStyle/>
          <a:p>
            <a:pPr algn="ctr" indent="0" marL="0">
              <a:buNone/>
            </a:pPr>
            <a:r>
              <a:rPr lang="en-US" sz="800" b="1" dirty="0">
                <a:solidFill>
                  <a:srgbClr val="15803D"/>
                </a:solidFill>
                <a:latin typeface="Calibri" pitchFamily="34" charset="0"/>
                <a:ea typeface="Calibri" pitchFamily="34" charset="-122"/>
                <a:cs typeface="Calibri" pitchFamily="34" charset="-120"/>
              </a:rPr>
              <a:t>COMMERCE &amp; RELIABILITY</a:t>
            </a:r>
            <a:endParaRPr lang="en-US" sz="800" dirty="0"/>
          </a:p>
        </p:txBody>
      </p:sp>
      <p:sp>
        <p:nvSpPr>
          <p:cNvPr id="10" name="Text 8"/>
          <p:cNvSpPr/>
          <p:nvPr/>
        </p:nvSpPr>
        <p:spPr>
          <a:xfrm>
            <a:off x="1051560" y="2468880"/>
            <a:ext cx="4572000" cy="384048"/>
          </a:xfrm>
          <a:prstGeom prst="rect">
            <a:avLst/>
          </a:prstGeom>
          <a:noFill/>
          <a:ln/>
        </p:spPr>
        <p:txBody>
          <a:bodyPr wrap="square" lIns="0" tIns="0" rIns="0" bIns="0" rtlCol="0" anchor="ctr"/>
          <a:lstStyle/>
          <a:p>
            <a:pPr indent="0" marL="0">
              <a:buNone/>
            </a:pPr>
            <a:r>
              <a:rPr lang="en-US" sz="1700" b="1" dirty="0">
                <a:solidFill>
                  <a:srgbClr val="131E18"/>
                </a:solidFill>
                <a:latin typeface="Georgia" pitchFamily="34" charset="0"/>
                <a:ea typeface="Georgia" pitchFamily="34" charset="-122"/>
                <a:cs typeface="Georgia" pitchFamily="34" charset="-120"/>
              </a:rPr>
              <a:t>OrderForge Checkout Engine</a:t>
            </a:r>
            <a:endParaRPr lang="en-US" sz="1700" dirty="0"/>
          </a:p>
        </p:txBody>
      </p:sp>
      <p:sp>
        <p:nvSpPr>
          <p:cNvPr id="11" name="Text 9"/>
          <p:cNvSpPr/>
          <p:nvPr/>
        </p:nvSpPr>
        <p:spPr>
          <a:xfrm>
            <a:off x="1051560" y="2907792"/>
            <a:ext cx="4572000" cy="658368"/>
          </a:xfrm>
          <a:prstGeom prst="rect">
            <a:avLst/>
          </a:prstGeom>
          <a:noFill/>
          <a:ln/>
        </p:spPr>
        <p:txBody>
          <a:bodyPr wrap="square" lIns="0" tIns="0" rIns="0" bIns="0" rtlCol="0" anchor="ctr"/>
          <a:lstStyle/>
          <a:p>
            <a:pPr indent="0" marL="0">
              <a:lnSpc>
                <a:spcPct val="120000"/>
              </a:lnSpc>
              <a:buNone/>
            </a:pPr>
            <a:r>
              <a:rPr lang="en-US" sz="1000" dirty="0">
                <a:solidFill>
                  <a:srgbClr val="3E4D44"/>
                </a:solidFill>
                <a:latin typeface="Calibri" pitchFamily="34" charset="0"/>
                <a:ea typeface="Calibri" pitchFamily="34" charset="-122"/>
                <a:cs typeface="Calibri" pitchFamily="34" charset="-120"/>
              </a:rPr>
              <a:t>An e-commerce order engine designed to explore data consistency during checkout surges with atomic Redis locks and idempotent payment processing.</a:t>
            </a:r>
            <a:endParaRPr lang="en-US" sz="1000" dirty="0"/>
          </a:p>
        </p:txBody>
      </p:sp>
      <p:sp>
        <p:nvSpPr>
          <p:cNvPr id="12" name="Shape 10"/>
          <p:cNvSpPr/>
          <p:nvPr/>
        </p:nvSpPr>
        <p:spPr>
          <a:xfrm>
            <a:off x="1051560" y="3621024"/>
            <a:ext cx="4572000" cy="1691640"/>
          </a:xfrm>
          <a:prstGeom prst="rect">
            <a:avLst/>
          </a:prstGeom>
          <a:solidFill>
            <a:srgbClr val="F1F5F9"/>
          </a:solidFill>
          <a:ln w="12700">
            <a:solidFill>
              <a:srgbClr val="E4E0D1"/>
            </a:solidFill>
            <a:prstDash val="solid"/>
          </a:ln>
        </p:spPr>
      </p:sp>
      <p:pic>
        <p:nvPicPr>
          <p:cNvPr id="13" name="Image 0" descr="/Users/reikypratama/PortoFolio copy/public/images/ppt/orderforge.png">    </p:cNvPr>
          <p:cNvPicPr>
            <a:picLocks noChangeAspect="1"/>
          </p:cNvPicPr>
          <p:nvPr/>
        </p:nvPicPr>
        <p:blipFill>
          <a:blip r:embed="rId1"/>
          <a:stretch>
            <a:fillRect/>
          </a:stretch>
        </p:blipFill>
        <p:spPr>
          <a:xfrm>
            <a:off x="1051560" y="3621024"/>
            <a:ext cx="4572000" cy="1691640"/>
          </a:xfrm>
          <a:prstGeom prst="rect">
            <a:avLst/>
          </a:prstGeom>
        </p:spPr>
      </p:pic>
      <p:sp>
        <p:nvSpPr>
          <p:cNvPr id="14" name="Text 11"/>
          <p:cNvSpPr/>
          <p:nvPr/>
        </p:nvSpPr>
        <p:spPr>
          <a:xfrm>
            <a:off x="1051560" y="5376672"/>
            <a:ext cx="4572000" cy="201168"/>
          </a:xfrm>
          <a:prstGeom prst="rect">
            <a:avLst/>
          </a:prstGeom>
          <a:noFill/>
          <a:ln/>
        </p:spPr>
        <p:txBody>
          <a:bodyPr wrap="square" lIns="0" tIns="0" rIns="0" bIns="0" rtlCol="0" anchor="ctr"/>
          <a:lstStyle/>
          <a:p>
            <a:pPr indent="0" marL="0">
              <a:buNone/>
            </a:pPr>
            <a:r>
              <a:rPr lang="en-US" sz="850" dirty="0">
                <a:solidFill>
                  <a:srgbClr val="3E4D44"/>
                </a:solidFill>
                <a:latin typeface="Calibri" pitchFamily="34" charset="0"/>
                <a:ea typeface="Calibri" pitchFamily="34" charset="-122"/>
                <a:cs typeface="Calibri" pitchFamily="34" charset="-120"/>
              </a:rPr>
              <a:t>• Atomic Redis reservation locks preventing overselling.</a:t>
            </a:r>
            <a:endParaRPr lang="en-US" sz="850" dirty="0"/>
          </a:p>
        </p:txBody>
      </p:sp>
      <p:sp>
        <p:nvSpPr>
          <p:cNvPr id="15" name="Text 12"/>
          <p:cNvSpPr/>
          <p:nvPr/>
        </p:nvSpPr>
        <p:spPr>
          <a:xfrm>
            <a:off x="1051560" y="5596128"/>
            <a:ext cx="4572000" cy="201168"/>
          </a:xfrm>
          <a:prstGeom prst="rect">
            <a:avLst/>
          </a:prstGeom>
          <a:noFill/>
          <a:ln/>
        </p:spPr>
        <p:txBody>
          <a:bodyPr wrap="square" lIns="0" tIns="0" rIns="0" bIns="0" rtlCol="0" anchor="ctr"/>
          <a:lstStyle/>
          <a:p>
            <a:pPr indent="0" marL="0">
              <a:buNone/>
            </a:pPr>
            <a:r>
              <a:rPr lang="en-US" sz="850" dirty="0">
                <a:solidFill>
                  <a:srgbClr val="3E4D44"/>
                </a:solidFill>
                <a:latin typeface="Calibri" pitchFamily="34" charset="0"/>
                <a:ea typeface="Calibri" pitchFamily="34" charset="-122"/>
                <a:cs typeface="Calibri" pitchFamily="34" charset="-120"/>
              </a:rPr>
              <a:t>• Cryptographic webhook deduplication preventing double-charges.</a:t>
            </a:r>
            <a:endParaRPr lang="en-US" sz="850" dirty="0"/>
          </a:p>
        </p:txBody>
      </p:sp>
      <p:sp>
        <p:nvSpPr>
          <p:cNvPr id="16" name="Text 13"/>
          <p:cNvSpPr/>
          <p:nvPr/>
        </p:nvSpPr>
        <p:spPr>
          <a:xfrm>
            <a:off x="1051560" y="5870448"/>
            <a:ext cx="4572000" cy="22860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TECH STACK: Laravel  ·  Next.js  ·  PostgreSQL  ·  Docker  ·  Redis</a:t>
            </a:r>
            <a:endParaRPr lang="en-US" sz="850" dirty="0"/>
          </a:p>
        </p:txBody>
      </p:sp>
      <p:sp>
        <p:nvSpPr>
          <p:cNvPr id="17" name="Shape 14"/>
          <p:cNvSpPr/>
          <p:nvPr/>
        </p:nvSpPr>
        <p:spPr>
          <a:xfrm>
            <a:off x="6172200" y="1874520"/>
            <a:ext cx="5285232" cy="4434840"/>
          </a:xfrm>
          <a:prstGeom prst="roundRect">
            <a:avLst>
              <a:gd name="adj" fmla="val 3711"/>
            </a:avLst>
          </a:prstGeom>
          <a:solidFill>
            <a:srgbClr val="FFFFFF"/>
          </a:solidFill>
          <a:ln w="12700">
            <a:solidFill>
              <a:srgbClr val="E4E0D1"/>
            </a:solidFill>
            <a:prstDash val="solid"/>
          </a:ln>
        </p:spPr>
      </p:sp>
      <p:sp>
        <p:nvSpPr>
          <p:cNvPr id="18" name="Shape 15"/>
          <p:cNvSpPr/>
          <p:nvPr/>
        </p:nvSpPr>
        <p:spPr>
          <a:xfrm>
            <a:off x="6492240" y="2103120"/>
            <a:ext cx="2377440" cy="256032"/>
          </a:xfrm>
          <a:prstGeom prst="roundRect">
            <a:avLst>
              <a:gd name="adj" fmla="val 50000"/>
            </a:avLst>
          </a:prstGeom>
          <a:solidFill>
            <a:srgbClr val="EBF7EE"/>
          </a:solidFill>
          <a:ln w="12700">
            <a:solidFill>
              <a:srgbClr val="C2E5CD"/>
            </a:solidFill>
            <a:prstDash val="solid"/>
          </a:ln>
        </p:spPr>
      </p:sp>
      <p:sp>
        <p:nvSpPr>
          <p:cNvPr id="19" name="Text 16"/>
          <p:cNvSpPr/>
          <p:nvPr/>
        </p:nvSpPr>
        <p:spPr>
          <a:xfrm>
            <a:off x="6492240" y="2103120"/>
            <a:ext cx="2377440" cy="256032"/>
          </a:xfrm>
          <a:prstGeom prst="rect">
            <a:avLst/>
          </a:prstGeom>
          <a:noFill/>
          <a:ln/>
        </p:spPr>
        <p:txBody>
          <a:bodyPr wrap="square" lIns="0" tIns="0" rIns="0" bIns="0" rtlCol="0" anchor="ctr"/>
          <a:lstStyle/>
          <a:p>
            <a:pPr algn="ctr" indent="0" marL="0">
              <a:buNone/>
            </a:pPr>
            <a:r>
              <a:rPr lang="en-US" sz="800" b="1" dirty="0">
                <a:solidFill>
                  <a:srgbClr val="15803D"/>
                </a:solidFill>
                <a:latin typeface="Calibri" pitchFamily="34" charset="0"/>
                <a:ea typeface="Calibri" pitchFamily="34" charset="-122"/>
                <a:cs typeface="Calibri" pitchFamily="34" charset="-120"/>
              </a:rPr>
              <a:t>NATIVE ANDROID / OFFLINE-FIRST</a:t>
            </a:r>
            <a:endParaRPr lang="en-US" sz="800" dirty="0"/>
          </a:p>
        </p:txBody>
      </p:sp>
      <p:sp>
        <p:nvSpPr>
          <p:cNvPr id="20" name="Text 17"/>
          <p:cNvSpPr/>
          <p:nvPr/>
        </p:nvSpPr>
        <p:spPr>
          <a:xfrm>
            <a:off x="6492240" y="2468880"/>
            <a:ext cx="4572000" cy="384048"/>
          </a:xfrm>
          <a:prstGeom prst="rect">
            <a:avLst/>
          </a:prstGeom>
          <a:noFill/>
          <a:ln/>
        </p:spPr>
        <p:txBody>
          <a:bodyPr wrap="square" lIns="0" tIns="0" rIns="0" bIns="0" rtlCol="0" anchor="ctr"/>
          <a:lstStyle/>
          <a:p>
            <a:pPr indent="0" marL="0">
              <a:buNone/>
            </a:pPr>
            <a:r>
              <a:rPr lang="en-US" sz="1700" b="1" dirty="0">
                <a:solidFill>
                  <a:srgbClr val="131E18"/>
                </a:solidFill>
                <a:latin typeface="Georgia" pitchFamily="34" charset="0"/>
                <a:ea typeface="Georgia" pitchFamily="34" charset="-122"/>
                <a:cs typeface="Georgia" pitchFamily="34" charset="-120"/>
              </a:rPr>
              <a:t>Katalog Komik Android App</a:t>
            </a:r>
            <a:endParaRPr lang="en-US" sz="1700" dirty="0"/>
          </a:p>
        </p:txBody>
      </p:sp>
      <p:sp>
        <p:nvSpPr>
          <p:cNvPr id="21" name="Text 18"/>
          <p:cNvSpPr/>
          <p:nvPr/>
        </p:nvSpPr>
        <p:spPr>
          <a:xfrm>
            <a:off x="6492240" y="2907792"/>
            <a:ext cx="4572000" cy="658368"/>
          </a:xfrm>
          <a:prstGeom prst="rect">
            <a:avLst/>
          </a:prstGeom>
          <a:noFill/>
          <a:ln/>
        </p:spPr>
        <p:txBody>
          <a:bodyPr wrap="square" lIns="0" tIns="0" rIns="0" bIns="0" rtlCol="0" anchor="ctr"/>
          <a:lstStyle/>
          <a:p>
            <a:pPr indent="0" marL="0">
              <a:lnSpc>
                <a:spcPct val="120000"/>
              </a:lnSpc>
              <a:buNone/>
            </a:pPr>
            <a:r>
              <a:rPr lang="en-US" sz="1000" dirty="0">
                <a:solidFill>
                  <a:srgbClr val="3E4D44"/>
                </a:solidFill>
                <a:latin typeface="Calibri" pitchFamily="34" charset="0"/>
                <a:ea typeface="Calibri" pitchFamily="34" charset="-122"/>
                <a:cs typeface="Calibri" pitchFamily="34" charset="-120"/>
              </a:rPr>
              <a:t>A modern native Android application showcasing Google Clean Architecture, declarative Jetpack Compose UI, and offline-first Room Database caching.</a:t>
            </a:r>
            <a:endParaRPr lang="en-US" sz="1000" dirty="0"/>
          </a:p>
        </p:txBody>
      </p:sp>
      <p:sp>
        <p:nvSpPr>
          <p:cNvPr id="22" name="Shape 19"/>
          <p:cNvSpPr/>
          <p:nvPr/>
        </p:nvSpPr>
        <p:spPr>
          <a:xfrm>
            <a:off x="6492240" y="3621024"/>
            <a:ext cx="4572000" cy="1691640"/>
          </a:xfrm>
          <a:prstGeom prst="roundRect">
            <a:avLst>
              <a:gd name="adj" fmla="val 4324"/>
            </a:avLst>
          </a:prstGeom>
          <a:solidFill>
            <a:srgbClr val="0F172A"/>
          </a:solidFill>
          <a:ln w="12700">
            <a:solidFill>
              <a:srgbClr val="334155"/>
            </a:solidFill>
            <a:prstDash val="solid"/>
          </a:ln>
        </p:spPr>
      </p:sp>
      <p:pic>
        <p:nvPicPr>
          <p:cNvPr id="23" name="Image 1" descr="/Users/reikypratama/PortoFolio copy/public/images/ppt/comic-library.png">    </p:cNvPr>
          <p:cNvPicPr>
            <a:picLocks noChangeAspect="1"/>
          </p:cNvPicPr>
          <p:nvPr/>
        </p:nvPicPr>
        <p:blipFill>
          <a:blip r:embed="rId2"/>
          <a:stretch>
            <a:fillRect/>
          </a:stretch>
        </p:blipFill>
        <p:spPr>
          <a:xfrm>
            <a:off x="6537960" y="3666744"/>
            <a:ext cx="4480560" cy="1600200"/>
          </a:xfrm>
          <a:prstGeom prst="rect">
            <a:avLst/>
          </a:prstGeom>
        </p:spPr>
      </p:pic>
      <p:sp>
        <p:nvSpPr>
          <p:cNvPr id="24" name="Text 20"/>
          <p:cNvSpPr/>
          <p:nvPr/>
        </p:nvSpPr>
        <p:spPr>
          <a:xfrm>
            <a:off x="6492240" y="5376672"/>
            <a:ext cx="4572000" cy="201168"/>
          </a:xfrm>
          <a:prstGeom prst="rect">
            <a:avLst/>
          </a:prstGeom>
          <a:noFill/>
          <a:ln/>
        </p:spPr>
        <p:txBody>
          <a:bodyPr wrap="square" lIns="0" tIns="0" rIns="0" bIns="0" rtlCol="0" anchor="ctr"/>
          <a:lstStyle/>
          <a:p>
            <a:pPr indent="0" marL="0">
              <a:buNone/>
            </a:pPr>
            <a:r>
              <a:rPr lang="en-US" sz="850" dirty="0">
                <a:solidFill>
                  <a:srgbClr val="3E4D44"/>
                </a:solidFill>
                <a:latin typeface="Calibri" pitchFamily="34" charset="0"/>
                <a:ea typeface="Calibri" pitchFamily="34" charset="-122"/>
                <a:cs typeface="Calibri" pitchFamily="34" charset="-120"/>
              </a:rPr>
              <a:t>• 100% declarative Jetpack Compose UI with adaptive orientations.</a:t>
            </a:r>
            <a:endParaRPr lang="en-US" sz="850" dirty="0"/>
          </a:p>
        </p:txBody>
      </p:sp>
      <p:sp>
        <p:nvSpPr>
          <p:cNvPr id="25" name="Text 21"/>
          <p:cNvSpPr/>
          <p:nvPr/>
        </p:nvSpPr>
        <p:spPr>
          <a:xfrm>
            <a:off x="6492240" y="5596128"/>
            <a:ext cx="4572000" cy="201168"/>
          </a:xfrm>
          <a:prstGeom prst="rect">
            <a:avLst/>
          </a:prstGeom>
          <a:noFill/>
          <a:ln/>
        </p:spPr>
        <p:txBody>
          <a:bodyPr wrap="square" lIns="0" tIns="0" rIns="0" bIns="0" rtlCol="0" anchor="ctr"/>
          <a:lstStyle/>
          <a:p>
            <a:pPr indent="0" marL="0">
              <a:buNone/>
            </a:pPr>
            <a:r>
              <a:rPr lang="en-US" sz="850" dirty="0">
                <a:solidFill>
                  <a:srgbClr val="3E4D44"/>
                </a:solidFill>
                <a:latin typeface="Calibri" pitchFamily="34" charset="0"/>
                <a:ea typeface="Calibri" pitchFamily="34" charset="-122"/>
                <a:cs typeface="Calibri" pitchFamily="34" charset="-120"/>
              </a:rPr>
              <a:t>• Reactive Single Source of Truth repository with Room DB &amp; Coroutines.</a:t>
            </a:r>
            <a:endParaRPr lang="en-US" sz="850" dirty="0"/>
          </a:p>
        </p:txBody>
      </p:sp>
      <p:sp>
        <p:nvSpPr>
          <p:cNvPr id="26" name="Text 22"/>
          <p:cNvSpPr/>
          <p:nvPr/>
        </p:nvSpPr>
        <p:spPr>
          <a:xfrm>
            <a:off x="6492240" y="5870448"/>
            <a:ext cx="4572000" cy="22860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TECH STACK: Kotlin  ·  Jetpack Compose  ·  Room DB  ·  Retrofit  ·  Coroutines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EBF7EE"/>
          </a:solidFill>
          <a:ln w="12700">
            <a:solidFill>
              <a:srgbClr val="C2E5CD"/>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07 · CASE STUDY 05 / PERSONAL FINANCE</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6D7E74"/>
                </a:solidFill>
                <a:latin typeface="Calibri" pitchFamily="34" charset="0"/>
                <a:ea typeface="Calibri" pitchFamily="34" charset="-122"/>
                <a:cs typeface="Calibri" pitchFamily="34" charset="-120"/>
              </a:rPr>
              <a:t>08 / 11</a:t>
            </a:r>
            <a:endParaRPr lang="en-US" sz="1000" dirty="0"/>
          </a:p>
        </p:txBody>
      </p:sp>
      <p:sp>
        <p:nvSpPr>
          <p:cNvPr id="5" name="Text 3"/>
          <p:cNvSpPr/>
          <p:nvPr/>
        </p:nvSpPr>
        <p:spPr>
          <a:xfrm>
            <a:off x="731520" y="859536"/>
            <a:ext cx="10698480" cy="475488"/>
          </a:xfrm>
          <a:prstGeom prst="rect">
            <a:avLst/>
          </a:prstGeom>
          <a:noFill/>
          <a:ln/>
        </p:spPr>
        <p:txBody>
          <a:bodyPr wrap="square" lIns="0" tIns="0" rIns="0" bIns="0" rtlCol="0" anchor="t"/>
          <a:lstStyle/>
          <a:p>
            <a:pPr indent="0" marL="0">
              <a:buNone/>
            </a:pPr>
            <a:r>
              <a:rPr lang="en-US" sz="2400" b="1" dirty="0">
                <a:solidFill>
                  <a:srgbClr val="131E18"/>
                </a:solidFill>
                <a:latin typeface="Georgia" pitchFamily="34" charset="0"/>
                <a:ea typeface="Georgia" pitchFamily="34" charset="-122"/>
                <a:cs typeface="Georgia" pitchFamily="34" charset="-120"/>
              </a:rPr>
              <a:t>MoneyTrack: Offline-First Expense &amp; Cash Flow Analytics</a:t>
            </a:r>
            <a:endParaRPr lang="en-US" sz="2400" dirty="0"/>
          </a:p>
        </p:txBody>
      </p:sp>
      <p:sp>
        <p:nvSpPr>
          <p:cNvPr id="6" name="Text 4"/>
          <p:cNvSpPr/>
          <p:nvPr/>
        </p:nvSpPr>
        <p:spPr>
          <a:xfrm>
            <a:off x="731520" y="1371600"/>
            <a:ext cx="10698480" cy="292608"/>
          </a:xfrm>
          <a:prstGeom prst="rect">
            <a:avLst/>
          </a:prstGeom>
          <a:noFill/>
          <a:ln/>
        </p:spPr>
        <p:txBody>
          <a:bodyPr wrap="square" lIns="0" tIns="0" rIns="0" bIns="0" rtlCol="0" anchor="t"/>
          <a:lstStyle/>
          <a:p>
            <a:pPr indent="0" marL="0">
              <a:buNone/>
            </a:pPr>
            <a:r>
              <a:rPr lang="en-US" sz="1250" dirty="0">
                <a:solidFill>
                  <a:srgbClr val="3E4D44"/>
                </a:solidFill>
                <a:latin typeface="Calibri" pitchFamily="34" charset="0"/>
                <a:ea typeface="Calibri" pitchFamily="34" charset="-122"/>
                <a:cs typeface="Calibri" pitchFamily="34" charset="-120"/>
              </a:rPr>
              <a:t>Know where every rupiah moves — zero cloud latency, multi-wallet accounts, and complete privacy.</a:t>
            </a:r>
            <a:endParaRPr lang="en-US" sz="1250" dirty="0"/>
          </a:p>
        </p:txBody>
      </p:sp>
      <p:sp>
        <p:nvSpPr>
          <p:cNvPr id="7" name="Shape 5"/>
          <p:cNvSpPr/>
          <p:nvPr/>
        </p:nvSpPr>
        <p:spPr>
          <a:xfrm>
            <a:off x="731520" y="1874520"/>
            <a:ext cx="4389120" cy="4434840"/>
          </a:xfrm>
          <a:prstGeom prst="roundRect">
            <a:avLst>
              <a:gd name="adj" fmla="val 3750"/>
            </a:avLst>
          </a:prstGeom>
          <a:solidFill>
            <a:srgbClr val="FFFFFF"/>
          </a:solidFill>
          <a:ln w="12700">
            <a:solidFill>
              <a:srgbClr val="E4E0D1"/>
            </a:solidFill>
            <a:prstDash val="solid"/>
          </a:ln>
        </p:spPr>
      </p:sp>
      <p:sp>
        <p:nvSpPr>
          <p:cNvPr id="8" name="Shape 6"/>
          <p:cNvSpPr/>
          <p:nvPr/>
        </p:nvSpPr>
        <p:spPr>
          <a:xfrm>
            <a:off x="1005840" y="2103120"/>
            <a:ext cx="2468880" cy="256032"/>
          </a:xfrm>
          <a:prstGeom prst="roundRect">
            <a:avLst>
              <a:gd name="adj" fmla="val 50000"/>
            </a:avLst>
          </a:prstGeom>
          <a:solidFill>
            <a:srgbClr val="EBF7EE"/>
          </a:solidFill>
          <a:ln w="12700">
            <a:solidFill>
              <a:srgbClr val="C2E5CD"/>
            </a:solidFill>
            <a:prstDash val="solid"/>
          </a:ln>
        </p:spPr>
      </p:sp>
      <p:sp>
        <p:nvSpPr>
          <p:cNvPr id="9" name="Text 7"/>
          <p:cNvSpPr/>
          <p:nvPr/>
        </p:nvSpPr>
        <p:spPr>
          <a:xfrm>
            <a:off x="1005840" y="2103120"/>
            <a:ext cx="2468880" cy="256032"/>
          </a:xfrm>
          <a:prstGeom prst="rect">
            <a:avLst/>
          </a:prstGeom>
          <a:noFill/>
          <a:ln/>
        </p:spPr>
        <p:txBody>
          <a:bodyPr wrap="square" lIns="0" tIns="0" rIns="0" bIns="0" rtlCol="0" anchor="ctr"/>
          <a:lstStyle/>
          <a:p>
            <a:pPr algn="ctr" indent="0" marL="0">
              <a:buNone/>
            </a:pPr>
            <a:r>
              <a:rPr lang="en-US" sz="800" b="1" dirty="0">
                <a:solidFill>
                  <a:srgbClr val="15803D"/>
                </a:solidFill>
                <a:latin typeface="Calibri" pitchFamily="34" charset="0"/>
                <a:ea typeface="Calibri" pitchFamily="34" charset="-122"/>
                <a:cs typeface="Calibri" pitchFamily="34" charset="-120"/>
              </a:rPr>
              <a:t>MOBILE FINANCE &amp; ANALYTICS</a:t>
            </a:r>
            <a:endParaRPr lang="en-US" sz="800" dirty="0"/>
          </a:p>
        </p:txBody>
      </p:sp>
      <p:sp>
        <p:nvSpPr>
          <p:cNvPr id="10" name="Text 8"/>
          <p:cNvSpPr/>
          <p:nvPr/>
        </p:nvSpPr>
        <p:spPr>
          <a:xfrm>
            <a:off x="1005840" y="2468880"/>
            <a:ext cx="3840480" cy="411480"/>
          </a:xfrm>
          <a:prstGeom prst="rect">
            <a:avLst/>
          </a:prstGeom>
          <a:noFill/>
          <a:ln/>
        </p:spPr>
        <p:txBody>
          <a:bodyPr wrap="square" lIns="0" tIns="0" rIns="0" bIns="0" rtlCol="0" anchor="ctr"/>
          <a:lstStyle/>
          <a:p>
            <a:pPr indent="0" marL="0">
              <a:buNone/>
            </a:pPr>
            <a:r>
              <a:rPr lang="en-US" sz="2000" b="1" dirty="0">
                <a:solidFill>
                  <a:srgbClr val="131E18"/>
                </a:solidFill>
                <a:latin typeface="Georgia" pitchFamily="34" charset="0"/>
                <a:ea typeface="Georgia" pitchFamily="34" charset="-122"/>
                <a:cs typeface="Georgia" pitchFamily="34" charset="-120"/>
              </a:rPr>
              <a:t>MoneyTrack Mobile App</a:t>
            </a:r>
            <a:endParaRPr lang="en-US" sz="2000" dirty="0"/>
          </a:p>
        </p:txBody>
      </p:sp>
      <p:sp>
        <p:nvSpPr>
          <p:cNvPr id="11" name="Text 9"/>
          <p:cNvSpPr/>
          <p:nvPr/>
        </p:nvSpPr>
        <p:spPr>
          <a:xfrm>
            <a:off x="1005840" y="2971800"/>
            <a:ext cx="3840480" cy="1005840"/>
          </a:xfrm>
          <a:prstGeom prst="rect">
            <a:avLst/>
          </a:prstGeom>
          <a:noFill/>
          <a:ln/>
        </p:spPr>
        <p:txBody>
          <a:bodyPr wrap="square" lIns="0" tIns="0" rIns="0" bIns="0" rtlCol="0" anchor="ctr"/>
          <a:lstStyle/>
          <a:p>
            <a:pPr indent="0" marL="0">
              <a:lnSpc>
                <a:spcPct val="125000"/>
              </a:lnSpc>
              <a:buNone/>
            </a:pPr>
            <a:r>
              <a:rPr lang="en-US" sz="1100" dirty="0">
                <a:solidFill>
                  <a:srgbClr val="3E4D44"/>
                </a:solidFill>
                <a:latin typeface="Calibri" pitchFamily="34" charset="0"/>
                <a:ea typeface="Calibri" pitchFamily="34" charset="-122"/>
                <a:cs typeface="Calibri" pitchFamily="34" charset="-120"/>
              </a:rPr>
              <a:t>A personal finance management application engineered for speed, privacy, and full offline functionality. Enables users to manage multiple bank accounts, e-wallets, and cash reserves with automated expense categorization and visual analytics.</a:t>
            </a:r>
            <a:endParaRPr lang="en-US" sz="1100" dirty="0"/>
          </a:p>
        </p:txBody>
      </p:sp>
      <p:sp>
        <p:nvSpPr>
          <p:cNvPr id="12" name="Text 10"/>
          <p:cNvSpPr/>
          <p:nvPr/>
        </p:nvSpPr>
        <p:spPr>
          <a:xfrm>
            <a:off x="1005840" y="4069080"/>
            <a:ext cx="3840480" cy="201168"/>
          </a:xfrm>
          <a:prstGeom prst="rect">
            <a:avLst/>
          </a:prstGeom>
          <a:noFill/>
          <a:ln/>
        </p:spPr>
        <p:txBody>
          <a:bodyPr wrap="square" lIns="0" tIns="0" rIns="0" bIns="0" rtlCol="0" anchor="ctr"/>
          <a:lstStyle/>
          <a:p>
            <a:pPr indent="0" marL="0">
              <a:buNone/>
            </a:pPr>
            <a:r>
              <a:rPr lang="en-US" sz="800" b="1" dirty="0">
                <a:solidFill>
                  <a:srgbClr val="6D7E74"/>
                </a:solidFill>
                <a:latin typeface="Calibri" pitchFamily="34" charset="0"/>
                <a:ea typeface="Calibri" pitchFamily="34" charset="-122"/>
                <a:cs typeface="Calibri" pitchFamily="34" charset="-120"/>
              </a:rPr>
              <a:t>CORE PRODUCT HIGHLIGHTS</a:t>
            </a:r>
            <a:endParaRPr lang="en-US" sz="800" dirty="0"/>
          </a:p>
        </p:txBody>
      </p:sp>
      <p:sp>
        <p:nvSpPr>
          <p:cNvPr id="13" name="Text 11"/>
          <p:cNvSpPr/>
          <p:nvPr/>
        </p:nvSpPr>
        <p:spPr>
          <a:xfrm>
            <a:off x="1005840" y="4343400"/>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100% Offline Storage: </a:t>
            </a:r>
            <a:pPr indent="0" marL="0">
              <a:buNone/>
            </a:pPr>
            <a:r>
              <a:rPr lang="en-US" sz="900" dirty="0">
                <a:solidFill>
                  <a:srgbClr val="3E4D44"/>
                </a:solidFill>
              </a:rPr>
              <a:t>Encrypted local device storage with zero server dependency or network delay.</a:t>
            </a:r>
            <a:endParaRPr lang="en-US" sz="950" dirty="0"/>
          </a:p>
        </p:txBody>
      </p:sp>
      <p:sp>
        <p:nvSpPr>
          <p:cNvPr id="14" name="Text 12"/>
          <p:cNvSpPr/>
          <p:nvPr/>
        </p:nvSpPr>
        <p:spPr>
          <a:xfrm>
            <a:off x="1005840" y="4782312"/>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Multi-Wallet Accounting: </a:t>
            </a:r>
            <a:pPr indent="0" marL="0">
              <a:buNone/>
            </a:pPr>
            <a:r>
              <a:rPr lang="en-US" sz="900" dirty="0">
                <a:solidFill>
                  <a:srgbClr val="3E4D44"/>
                </a:solidFill>
              </a:rPr>
              <a:t>Seamless inter-wallet transfers with atomic debit/credit transaction logging.</a:t>
            </a:r>
            <a:endParaRPr lang="en-US" sz="950" dirty="0"/>
          </a:p>
        </p:txBody>
      </p:sp>
      <p:sp>
        <p:nvSpPr>
          <p:cNvPr id="15" name="Text 13"/>
          <p:cNvSpPr/>
          <p:nvPr/>
        </p:nvSpPr>
        <p:spPr>
          <a:xfrm>
            <a:off x="1005840" y="5221224"/>
            <a:ext cx="3840480" cy="384048"/>
          </a:xfrm>
          <a:prstGeom prst="rect">
            <a:avLst/>
          </a:prstGeom>
          <a:noFill/>
          <a:ln/>
        </p:spPr>
        <p:txBody>
          <a:bodyPr wrap="square" lIns="0" tIns="0" rIns="0" bIns="0" rtlCol="0" anchor="ctr"/>
          <a:lstStyle/>
          <a:p>
            <a:pPr indent="0" marL="0">
              <a:buNone/>
            </a:pPr>
            <a:r>
              <a:rPr lang="en-US" sz="950" b="1" dirty="0">
                <a:solidFill>
                  <a:srgbClr val="15803D"/>
                </a:solidFill>
              </a:rPr>
              <a:t>•  Dynamic Cash-Flow Charts: </a:t>
            </a:r>
            <a:pPr indent="0" marL="0">
              <a:buNone/>
            </a:pPr>
            <a:r>
              <a:rPr lang="en-US" sz="900" dirty="0">
                <a:solidFill>
                  <a:srgbClr val="3E4D44"/>
                </a:solidFill>
              </a:rPr>
              <a:t>Realtime visual breakdowns of monthly income, expenditures, and categories.</a:t>
            </a:r>
            <a:endParaRPr lang="en-US" sz="950" dirty="0"/>
          </a:p>
        </p:txBody>
      </p:sp>
      <p:sp>
        <p:nvSpPr>
          <p:cNvPr id="16" name="Text 14"/>
          <p:cNvSpPr/>
          <p:nvPr/>
        </p:nvSpPr>
        <p:spPr>
          <a:xfrm>
            <a:off x="1005840" y="5806440"/>
            <a:ext cx="3840480" cy="27432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TECH STACK: React Native  ·  Expo  ·  TypeScript  ·  AsyncStorage  ·  Charts</a:t>
            </a:r>
            <a:endParaRPr lang="en-US" sz="850" dirty="0"/>
          </a:p>
        </p:txBody>
      </p:sp>
      <p:sp>
        <p:nvSpPr>
          <p:cNvPr id="17" name="Shape 15"/>
          <p:cNvSpPr/>
          <p:nvPr/>
        </p:nvSpPr>
        <p:spPr>
          <a:xfrm>
            <a:off x="5349240" y="1874520"/>
            <a:ext cx="6108192" cy="4434840"/>
          </a:xfrm>
          <a:prstGeom prst="roundRect">
            <a:avLst>
              <a:gd name="adj" fmla="val 3711"/>
            </a:avLst>
          </a:prstGeom>
          <a:solidFill>
            <a:srgbClr val="FFFFFF"/>
          </a:solidFill>
          <a:ln w="12700">
            <a:solidFill>
              <a:srgbClr val="E4E0D1"/>
            </a:solidFill>
            <a:prstDash val="solid"/>
          </a:ln>
        </p:spPr>
      </p:sp>
      <p:sp>
        <p:nvSpPr>
          <p:cNvPr id="18" name="Shape 16"/>
          <p:cNvSpPr/>
          <p:nvPr/>
        </p:nvSpPr>
        <p:spPr>
          <a:xfrm>
            <a:off x="5943600" y="2029968"/>
            <a:ext cx="2240280" cy="3767328"/>
          </a:xfrm>
          <a:prstGeom prst="roundRect">
            <a:avLst>
              <a:gd name="adj" fmla="val 3265"/>
            </a:avLst>
          </a:prstGeom>
          <a:solidFill>
            <a:srgbClr val="0F172A"/>
          </a:solidFill>
          <a:ln w="19050">
            <a:solidFill>
              <a:srgbClr val="334155"/>
            </a:solidFill>
            <a:prstDash val="solid"/>
          </a:ln>
        </p:spPr>
      </p:sp>
      <p:pic>
        <p:nvPicPr>
          <p:cNvPr id="19" name="Image 0" descr="/Users/reikypratama/PortoFolio copy/public/images/ppt/moneytrack-dashboard.png">    </p:cNvPr>
          <p:cNvPicPr>
            <a:picLocks noChangeAspect="1"/>
          </p:cNvPicPr>
          <p:nvPr/>
        </p:nvPicPr>
        <p:blipFill>
          <a:blip r:embed="rId1"/>
          <a:stretch>
            <a:fillRect/>
          </a:stretch>
        </p:blipFill>
        <p:spPr>
          <a:xfrm>
            <a:off x="5989320" y="2075688"/>
            <a:ext cx="2148840" cy="3675888"/>
          </a:xfrm>
          <a:prstGeom prst="rect">
            <a:avLst/>
          </a:prstGeom>
        </p:spPr>
      </p:pic>
      <p:sp>
        <p:nvSpPr>
          <p:cNvPr id="20" name="Text 17"/>
          <p:cNvSpPr/>
          <p:nvPr/>
        </p:nvSpPr>
        <p:spPr>
          <a:xfrm>
            <a:off x="5943600" y="5870448"/>
            <a:ext cx="2240280" cy="256032"/>
          </a:xfrm>
          <a:prstGeom prst="rect">
            <a:avLst/>
          </a:prstGeom>
          <a:noFill/>
          <a:ln/>
        </p:spPr>
        <p:txBody>
          <a:bodyPr wrap="square" lIns="0" tIns="0" rIns="0" bIns="0" rtlCol="0" anchor="ctr"/>
          <a:lstStyle/>
          <a:p>
            <a:pPr algn="ctr" indent="0" marL="0">
              <a:buNone/>
            </a:pPr>
            <a:r>
              <a:rPr lang="en-US" sz="850" b="1" dirty="0">
                <a:solidFill>
                  <a:srgbClr val="6D7E74"/>
                </a:solidFill>
                <a:latin typeface="Calibri" pitchFamily="34" charset="0"/>
                <a:ea typeface="Calibri" pitchFamily="34" charset="-122"/>
                <a:cs typeface="Calibri" pitchFamily="34" charset="-120"/>
              </a:rPr>
              <a:t>Balance &amp; Wallet Breakdown</a:t>
            </a:r>
            <a:endParaRPr lang="en-US" sz="850" dirty="0"/>
          </a:p>
        </p:txBody>
      </p:sp>
      <p:sp>
        <p:nvSpPr>
          <p:cNvPr id="21" name="Shape 18"/>
          <p:cNvSpPr/>
          <p:nvPr/>
        </p:nvSpPr>
        <p:spPr>
          <a:xfrm>
            <a:off x="8595360" y="2029968"/>
            <a:ext cx="2240280" cy="3767328"/>
          </a:xfrm>
          <a:prstGeom prst="roundRect">
            <a:avLst>
              <a:gd name="adj" fmla="val 3265"/>
            </a:avLst>
          </a:prstGeom>
          <a:solidFill>
            <a:srgbClr val="0F172A"/>
          </a:solidFill>
          <a:ln w="19050">
            <a:solidFill>
              <a:srgbClr val="334155"/>
            </a:solidFill>
            <a:prstDash val="solid"/>
          </a:ln>
        </p:spPr>
      </p:sp>
      <p:pic>
        <p:nvPicPr>
          <p:cNvPr id="22" name="Image 1" descr="/Users/reikypratama/PortoFolio copy/public/images/ppt/moneytrack-transactions.png">    </p:cNvPr>
          <p:cNvPicPr>
            <a:picLocks noChangeAspect="1"/>
          </p:cNvPicPr>
          <p:nvPr/>
        </p:nvPicPr>
        <p:blipFill>
          <a:blip r:embed="rId2"/>
          <a:stretch>
            <a:fillRect/>
          </a:stretch>
        </p:blipFill>
        <p:spPr>
          <a:xfrm>
            <a:off x="8641080" y="2075688"/>
            <a:ext cx="2148840" cy="3675888"/>
          </a:xfrm>
          <a:prstGeom prst="rect">
            <a:avLst/>
          </a:prstGeom>
        </p:spPr>
      </p:pic>
      <p:sp>
        <p:nvSpPr>
          <p:cNvPr id="23" name="Text 19"/>
          <p:cNvSpPr/>
          <p:nvPr/>
        </p:nvSpPr>
        <p:spPr>
          <a:xfrm>
            <a:off x="8595360" y="5870448"/>
            <a:ext cx="2240280" cy="256032"/>
          </a:xfrm>
          <a:prstGeom prst="rect">
            <a:avLst/>
          </a:prstGeom>
          <a:noFill/>
          <a:ln/>
        </p:spPr>
        <p:txBody>
          <a:bodyPr wrap="square" lIns="0" tIns="0" rIns="0" bIns="0" rtlCol="0" anchor="ctr"/>
          <a:lstStyle/>
          <a:p>
            <a:pPr algn="ctr" indent="0" marL="0">
              <a:buNone/>
            </a:pPr>
            <a:r>
              <a:rPr lang="en-US" sz="850" b="1" dirty="0">
                <a:solidFill>
                  <a:srgbClr val="6D7E74"/>
                </a:solidFill>
                <a:latin typeface="Calibri" pitchFamily="34" charset="0"/>
                <a:ea typeface="Calibri" pitchFamily="34" charset="-122"/>
                <a:cs typeface="Calibri" pitchFamily="34" charset="-120"/>
              </a:rPr>
              <a:t>Filterable Transaction Ledger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EBF7EE"/>
          </a:solidFill>
          <a:ln w="12700">
            <a:solidFill>
              <a:srgbClr val="C2E5CD"/>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08 · SUPPLEMENTARY ARCHIVE</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6D7E74"/>
                </a:solidFill>
                <a:latin typeface="Calibri" pitchFamily="34" charset="0"/>
                <a:ea typeface="Calibri" pitchFamily="34" charset="-122"/>
                <a:cs typeface="Calibri" pitchFamily="34" charset="-120"/>
              </a:rPr>
              <a:t>09 / 11</a:t>
            </a:r>
            <a:endParaRPr lang="en-US" sz="1000" dirty="0"/>
          </a:p>
        </p:txBody>
      </p:sp>
      <p:sp>
        <p:nvSpPr>
          <p:cNvPr id="5" name="Text 3"/>
          <p:cNvSpPr/>
          <p:nvPr/>
        </p:nvSpPr>
        <p:spPr>
          <a:xfrm>
            <a:off x="731520" y="859536"/>
            <a:ext cx="10698480" cy="475488"/>
          </a:xfrm>
          <a:prstGeom prst="rect">
            <a:avLst/>
          </a:prstGeom>
          <a:noFill/>
          <a:ln/>
        </p:spPr>
        <p:txBody>
          <a:bodyPr wrap="square" lIns="0" tIns="0" rIns="0" bIns="0" rtlCol="0" anchor="t"/>
          <a:lstStyle/>
          <a:p>
            <a:pPr indent="0" marL="0">
              <a:buNone/>
            </a:pPr>
            <a:r>
              <a:rPr lang="en-US" sz="2400" b="1" dirty="0">
                <a:solidFill>
                  <a:srgbClr val="131E18"/>
                </a:solidFill>
                <a:latin typeface="Georgia" pitchFamily="34" charset="0"/>
                <a:ea typeface="Georgia" pitchFamily="34" charset="-122"/>
                <a:cs typeface="Georgia" pitchFamily="34" charset="-120"/>
              </a:rPr>
              <a:t>Also in the Making: Health Tech &amp; Enterprise Deliveries</a:t>
            </a:r>
            <a:endParaRPr lang="en-US" sz="2400" dirty="0"/>
          </a:p>
        </p:txBody>
      </p:sp>
      <p:sp>
        <p:nvSpPr>
          <p:cNvPr id="6" name="Text 4"/>
          <p:cNvSpPr/>
          <p:nvPr/>
        </p:nvSpPr>
        <p:spPr>
          <a:xfrm>
            <a:off x="731520" y="1371600"/>
            <a:ext cx="10698480" cy="292608"/>
          </a:xfrm>
          <a:prstGeom prst="rect">
            <a:avLst/>
          </a:prstGeom>
          <a:noFill/>
          <a:ln/>
        </p:spPr>
        <p:txBody>
          <a:bodyPr wrap="square" lIns="0" tIns="0" rIns="0" bIns="0" rtlCol="0" anchor="t"/>
          <a:lstStyle/>
          <a:p>
            <a:pPr indent="0" marL="0">
              <a:buNone/>
            </a:pPr>
            <a:r>
              <a:rPr lang="en-US" sz="1250" dirty="0">
                <a:solidFill>
                  <a:srgbClr val="3E4D44"/>
                </a:solidFill>
                <a:latin typeface="Calibri" pitchFamily="34" charset="0"/>
                <a:ea typeface="Calibri" pitchFamily="34" charset="-122"/>
                <a:cs typeface="Calibri" pitchFamily="34" charset="-120"/>
              </a:rPr>
              <a:t>Additional explorations and production client deliverables from research and freelance projects.</a:t>
            </a:r>
            <a:endParaRPr lang="en-US" sz="1250" dirty="0"/>
          </a:p>
        </p:txBody>
      </p:sp>
      <p:sp>
        <p:nvSpPr>
          <p:cNvPr id="7" name="Shape 5"/>
          <p:cNvSpPr/>
          <p:nvPr/>
        </p:nvSpPr>
        <p:spPr>
          <a:xfrm>
            <a:off x="731520" y="1874520"/>
            <a:ext cx="5212080" cy="4434840"/>
          </a:xfrm>
          <a:prstGeom prst="roundRect">
            <a:avLst>
              <a:gd name="adj" fmla="val 3711"/>
            </a:avLst>
          </a:prstGeom>
          <a:solidFill>
            <a:srgbClr val="FFFFFF"/>
          </a:solidFill>
          <a:ln w="12700">
            <a:solidFill>
              <a:srgbClr val="E4E0D1"/>
            </a:solidFill>
            <a:prstDash val="solid"/>
          </a:ln>
        </p:spPr>
      </p:sp>
      <p:sp>
        <p:nvSpPr>
          <p:cNvPr id="8" name="Shape 6"/>
          <p:cNvSpPr/>
          <p:nvPr/>
        </p:nvSpPr>
        <p:spPr>
          <a:xfrm>
            <a:off x="1051560" y="2103120"/>
            <a:ext cx="2377440" cy="256032"/>
          </a:xfrm>
          <a:prstGeom prst="roundRect">
            <a:avLst>
              <a:gd name="adj" fmla="val 50000"/>
            </a:avLst>
          </a:prstGeom>
          <a:solidFill>
            <a:srgbClr val="EBF7EE"/>
          </a:solidFill>
          <a:ln w="12700">
            <a:solidFill>
              <a:srgbClr val="C2E5CD"/>
            </a:solidFill>
            <a:prstDash val="solid"/>
          </a:ln>
        </p:spPr>
      </p:sp>
      <p:sp>
        <p:nvSpPr>
          <p:cNvPr id="9" name="Text 7"/>
          <p:cNvSpPr/>
          <p:nvPr/>
        </p:nvSpPr>
        <p:spPr>
          <a:xfrm>
            <a:off x="1051560" y="2103120"/>
            <a:ext cx="2377440" cy="256032"/>
          </a:xfrm>
          <a:prstGeom prst="rect">
            <a:avLst/>
          </a:prstGeom>
          <a:noFill/>
          <a:ln/>
        </p:spPr>
        <p:txBody>
          <a:bodyPr wrap="square" lIns="0" tIns="0" rIns="0" bIns="0" rtlCol="0" anchor="ctr"/>
          <a:lstStyle/>
          <a:p>
            <a:pPr algn="ctr" indent="0" marL="0">
              <a:buNone/>
            </a:pPr>
            <a:r>
              <a:rPr lang="en-US" sz="800" b="1" dirty="0">
                <a:solidFill>
                  <a:srgbClr val="15803D"/>
                </a:solidFill>
                <a:latin typeface="Calibri" pitchFamily="34" charset="0"/>
                <a:ea typeface="Calibri" pitchFamily="34" charset="-122"/>
                <a:cs typeface="Calibri" pitchFamily="34" charset="-120"/>
              </a:rPr>
              <a:t>HEALTH &amp; WELLNESS · ANDROID</a:t>
            </a:r>
            <a:endParaRPr lang="en-US" sz="800" dirty="0"/>
          </a:p>
        </p:txBody>
      </p:sp>
      <p:sp>
        <p:nvSpPr>
          <p:cNvPr id="10" name="Text 8"/>
          <p:cNvSpPr/>
          <p:nvPr/>
        </p:nvSpPr>
        <p:spPr>
          <a:xfrm>
            <a:off x="1051560" y="2423160"/>
            <a:ext cx="2926080" cy="502920"/>
          </a:xfrm>
          <a:prstGeom prst="rect">
            <a:avLst/>
          </a:prstGeom>
          <a:noFill/>
          <a:ln/>
        </p:spPr>
        <p:txBody>
          <a:bodyPr wrap="square" lIns="0" tIns="0" rIns="0" bIns="0" rtlCol="0" anchor="ctr"/>
          <a:lstStyle/>
          <a:p>
            <a:pPr indent="0" marL="0">
              <a:buNone/>
            </a:pPr>
            <a:r>
              <a:rPr lang="en-US" sz="1650" b="1" dirty="0">
                <a:solidFill>
                  <a:srgbClr val="131E18"/>
                </a:solidFill>
                <a:latin typeface="Georgia" pitchFamily="34" charset="0"/>
                <a:ea typeface="Georgia" pitchFamily="34" charset="-122"/>
                <a:cs typeface="Georgia" pitchFamily="34" charset="-120"/>
              </a:rPr>
              <a:t>JiwaKu Mental Health App</a:t>
            </a:r>
            <a:endParaRPr lang="en-US" sz="1650" dirty="0"/>
          </a:p>
        </p:txBody>
      </p:sp>
      <p:sp>
        <p:nvSpPr>
          <p:cNvPr id="11" name="Text 9"/>
          <p:cNvSpPr/>
          <p:nvPr/>
        </p:nvSpPr>
        <p:spPr>
          <a:xfrm>
            <a:off x="1051560" y="2971800"/>
            <a:ext cx="2834640" cy="1143000"/>
          </a:xfrm>
          <a:prstGeom prst="rect">
            <a:avLst/>
          </a:prstGeom>
          <a:noFill/>
          <a:ln/>
        </p:spPr>
        <p:txBody>
          <a:bodyPr wrap="square" lIns="0" tIns="0" rIns="0" bIns="0" rtlCol="0" anchor="ctr"/>
          <a:lstStyle/>
          <a:p>
            <a:pPr indent="0" marL="0">
              <a:lnSpc>
                <a:spcPct val="125000"/>
              </a:lnSpc>
              <a:buNone/>
            </a:pPr>
            <a:r>
              <a:rPr lang="en-US" sz="1050" dirty="0">
                <a:solidFill>
                  <a:srgbClr val="3E4D44"/>
                </a:solidFill>
                <a:latin typeface="Calibri" pitchFamily="34" charset="0"/>
                <a:ea typeface="Calibri" pitchFamily="34" charset="-122"/>
                <a:cs typeface="Calibri" pitchFamily="34" charset="-120"/>
              </a:rPr>
              <a:t>A comprehensive mental wellness support app built with Kotlin, featuring real-time counseling chat, emergency psychiatric helpline routing, guided audio meditation, and Firebase Firestore authentication.</a:t>
            </a:r>
            <a:endParaRPr lang="en-US" sz="1050" dirty="0"/>
          </a:p>
        </p:txBody>
      </p:sp>
      <p:sp>
        <p:nvSpPr>
          <p:cNvPr id="12" name="Shape 10"/>
          <p:cNvSpPr/>
          <p:nvPr/>
        </p:nvSpPr>
        <p:spPr>
          <a:xfrm>
            <a:off x="4069080" y="2606040"/>
            <a:ext cx="1645920" cy="3154680"/>
          </a:xfrm>
          <a:prstGeom prst="roundRect">
            <a:avLst>
              <a:gd name="adj" fmla="val 4444"/>
            </a:avLst>
          </a:prstGeom>
          <a:solidFill>
            <a:srgbClr val="0F172A"/>
          </a:solidFill>
          <a:ln w="12700">
            <a:solidFill>
              <a:srgbClr val="334155"/>
            </a:solidFill>
            <a:prstDash val="solid"/>
          </a:ln>
        </p:spPr>
      </p:sp>
      <p:pic>
        <p:nvPicPr>
          <p:cNvPr id="13" name="Image 0" descr="/Users/reikypratama/PortoFolio copy/public/images/ppt/jiwaku.png">    </p:cNvPr>
          <p:cNvPicPr>
            <a:picLocks noChangeAspect="1"/>
          </p:cNvPicPr>
          <p:nvPr/>
        </p:nvPicPr>
        <p:blipFill>
          <a:blip r:embed="rId1"/>
          <a:stretch>
            <a:fillRect/>
          </a:stretch>
        </p:blipFill>
        <p:spPr>
          <a:xfrm>
            <a:off x="4114800" y="2651760"/>
            <a:ext cx="1554480" cy="3063240"/>
          </a:xfrm>
          <a:prstGeom prst="rect">
            <a:avLst/>
          </a:prstGeom>
        </p:spPr>
      </p:pic>
      <p:sp>
        <p:nvSpPr>
          <p:cNvPr id="14" name="Text 11"/>
          <p:cNvSpPr/>
          <p:nvPr/>
        </p:nvSpPr>
        <p:spPr>
          <a:xfrm>
            <a:off x="1051560" y="4251960"/>
            <a:ext cx="2834640" cy="365760"/>
          </a:xfrm>
          <a:prstGeom prst="rect">
            <a:avLst/>
          </a:prstGeom>
          <a:noFill/>
          <a:ln/>
        </p:spPr>
        <p:txBody>
          <a:bodyPr wrap="square" lIns="0" tIns="0" rIns="0" bIns="0" rtlCol="0" anchor="ctr"/>
          <a:lstStyle/>
          <a:p>
            <a:pPr indent="0" marL="0">
              <a:buNone/>
            </a:pPr>
            <a:r>
              <a:rPr lang="en-US" sz="900" dirty="0">
                <a:solidFill>
                  <a:srgbClr val="3E4D44"/>
                </a:solidFill>
                <a:latin typeface="Calibri" pitchFamily="34" charset="0"/>
                <a:ea typeface="Calibri" pitchFamily="34" charset="-122"/>
                <a:cs typeface="Calibri" pitchFamily="34" charset="-120"/>
              </a:rPr>
              <a:t>• Real-time counseling chat with Firestore listeners.</a:t>
            </a:r>
            <a:endParaRPr lang="en-US" sz="900" dirty="0"/>
          </a:p>
        </p:txBody>
      </p:sp>
      <p:sp>
        <p:nvSpPr>
          <p:cNvPr id="15" name="Text 12"/>
          <p:cNvSpPr/>
          <p:nvPr/>
        </p:nvSpPr>
        <p:spPr>
          <a:xfrm>
            <a:off x="1051560" y="4663440"/>
            <a:ext cx="2834640" cy="365760"/>
          </a:xfrm>
          <a:prstGeom prst="rect">
            <a:avLst/>
          </a:prstGeom>
          <a:noFill/>
          <a:ln/>
        </p:spPr>
        <p:txBody>
          <a:bodyPr wrap="square" lIns="0" tIns="0" rIns="0" bIns="0" rtlCol="0" anchor="ctr"/>
          <a:lstStyle/>
          <a:p>
            <a:pPr indent="0" marL="0">
              <a:buNone/>
            </a:pPr>
            <a:r>
              <a:rPr lang="en-US" sz="900" dirty="0">
                <a:solidFill>
                  <a:srgbClr val="3E4D44"/>
                </a:solidFill>
                <a:latin typeface="Calibri" pitchFamily="34" charset="0"/>
                <a:ea typeface="Calibri" pitchFamily="34" charset="-122"/>
                <a:cs typeface="Calibri" pitchFamily="34" charset="-120"/>
              </a:rPr>
              <a:t>• Direct routing to certified psychiatric helplines.</a:t>
            </a:r>
            <a:endParaRPr lang="en-US" sz="900" dirty="0"/>
          </a:p>
        </p:txBody>
      </p:sp>
      <p:sp>
        <p:nvSpPr>
          <p:cNvPr id="16" name="Text 13"/>
          <p:cNvSpPr/>
          <p:nvPr/>
        </p:nvSpPr>
        <p:spPr>
          <a:xfrm>
            <a:off x="1051560" y="5074920"/>
            <a:ext cx="2834640" cy="365760"/>
          </a:xfrm>
          <a:prstGeom prst="rect">
            <a:avLst/>
          </a:prstGeom>
          <a:noFill/>
          <a:ln/>
        </p:spPr>
        <p:txBody>
          <a:bodyPr wrap="square" lIns="0" tIns="0" rIns="0" bIns="0" rtlCol="0" anchor="ctr"/>
          <a:lstStyle/>
          <a:p>
            <a:pPr indent="0" marL="0">
              <a:buNone/>
            </a:pPr>
            <a:r>
              <a:rPr lang="en-US" sz="900" dirty="0">
                <a:solidFill>
                  <a:srgbClr val="3E4D44"/>
                </a:solidFill>
                <a:latin typeface="Calibri" pitchFamily="34" charset="0"/>
                <a:ea typeface="Calibri" pitchFamily="34" charset="-122"/>
                <a:cs typeface="Calibri" pitchFamily="34" charset="-120"/>
              </a:rPr>
              <a:t>• Built-in mood tracking journal and guided audio exercises.</a:t>
            </a:r>
            <a:endParaRPr lang="en-US" sz="900" dirty="0"/>
          </a:p>
        </p:txBody>
      </p:sp>
      <p:sp>
        <p:nvSpPr>
          <p:cNvPr id="17" name="Text 14"/>
          <p:cNvSpPr/>
          <p:nvPr/>
        </p:nvSpPr>
        <p:spPr>
          <a:xfrm>
            <a:off x="1051560" y="5806440"/>
            <a:ext cx="4572000" cy="27432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TECH STACK: Kotlin  ·  Android SDK  ·  Firebase  ·  Material 3</a:t>
            </a:r>
            <a:endParaRPr lang="en-US" sz="850" dirty="0"/>
          </a:p>
        </p:txBody>
      </p:sp>
      <p:sp>
        <p:nvSpPr>
          <p:cNvPr id="18" name="Shape 15"/>
          <p:cNvSpPr/>
          <p:nvPr/>
        </p:nvSpPr>
        <p:spPr>
          <a:xfrm>
            <a:off x="6172200" y="1874520"/>
            <a:ext cx="5285232" cy="4434840"/>
          </a:xfrm>
          <a:prstGeom prst="roundRect">
            <a:avLst>
              <a:gd name="adj" fmla="val 3711"/>
            </a:avLst>
          </a:prstGeom>
          <a:solidFill>
            <a:srgbClr val="FFFFFF"/>
          </a:solidFill>
          <a:ln w="12700">
            <a:solidFill>
              <a:srgbClr val="E4E0D1"/>
            </a:solidFill>
            <a:prstDash val="solid"/>
          </a:ln>
        </p:spPr>
      </p:sp>
      <p:sp>
        <p:nvSpPr>
          <p:cNvPr id="19" name="Shape 16"/>
          <p:cNvSpPr/>
          <p:nvPr/>
        </p:nvSpPr>
        <p:spPr>
          <a:xfrm>
            <a:off x="6492240" y="2103120"/>
            <a:ext cx="2560320" cy="256032"/>
          </a:xfrm>
          <a:prstGeom prst="roundRect">
            <a:avLst>
              <a:gd name="adj" fmla="val 50000"/>
            </a:avLst>
          </a:prstGeom>
          <a:solidFill>
            <a:srgbClr val="EBF7EE"/>
          </a:solidFill>
          <a:ln w="12700">
            <a:solidFill>
              <a:srgbClr val="C2E5CD"/>
            </a:solidFill>
            <a:prstDash val="solid"/>
          </a:ln>
        </p:spPr>
      </p:sp>
      <p:sp>
        <p:nvSpPr>
          <p:cNvPr id="20" name="Text 17"/>
          <p:cNvSpPr/>
          <p:nvPr/>
        </p:nvSpPr>
        <p:spPr>
          <a:xfrm>
            <a:off x="6492240" y="2103120"/>
            <a:ext cx="2560320" cy="256032"/>
          </a:xfrm>
          <a:prstGeom prst="rect">
            <a:avLst/>
          </a:prstGeom>
          <a:noFill/>
          <a:ln/>
        </p:spPr>
        <p:txBody>
          <a:bodyPr wrap="square" lIns="0" tIns="0" rIns="0" bIns="0" rtlCol="0" anchor="ctr"/>
          <a:lstStyle/>
          <a:p>
            <a:pPr algn="ctr" indent="0" marL="0">
              <a:buNone/>
            </a:pPr>
            <a:r>
              <a:rPr lang="en-US" sz="800" b="1" dirty="0">
                <a:solidFill>
                  <a:srgbClr val="15803D"/>
                </a:solidFill>
                <a:latin typeface="Calibri" pitchFamily="34" charset="0"/>
                <a:ea typeface="Calibri" pitchFamily="34" charset="-122"/>
                <a:cs typeface="Calibri" pitchFamily="34" charset="-120"/>
              </a:rPr>
              <a:t>COMMERCE &amp; WORKFLOW · FULLSTACK</a:t>
            </a:r>
            <a:endParaRPr lang="en-US" sz="800" dirty="0"/>
          </a:p>
        </p:txBody>
      </p:sp>
      <p:sp>
        <p:nvSpPr>
          <p:cNvPr id="21" name="Text 18"/>
          <p:cNvSpPr/>
          <p:nvPr/>
        </p:nvSpPr>
        <p:spPr>
          <a:xfrm>
            <a:off x="6492240" y="2468880"/>
            <a:ext cx="4572000" cy="411480"/>
          </a:xfrm>
          <a:prstGeom prst="rect">
            <a:avLst/>
          </a:prstGeom>
          <a:noFill/>
          <a:ln/>
        </p:spPr>
        <p:txBody>
          <a:bodyPr wrap="square" lIns="0" tIns="0" rIns="0" bIns="0" rtlCol="0" anchor="ctr"/>
          <a:lstStyle/>
          <a:p>
            <a:pPr indent="0" marL="0">
              <a:buNone/>
            </a:pPr>
            <a:r>
              <a:rPr lang="en-US" sz="1800" b="1" dirty="0">
                <a:solidFill>
                  <a:srgbClr val="131E18"/>
                </a:solidFill>
                <a:latin typeface="Georgia" pitchFamily="34" charset="0"/>
                <a:ea typeface="Georgia" pitchFamily="34" charset="-122"/>
                <a:cs typeface="Georgia" pitchFamily="34" charset="-120"/>
              </a:rPr>
              <a:t>Enterprise Client Web Portal</a:t>
            </a:r>
            <a:endParaRPr lang="en-US" sz="1800" dirty="0"/>
          </a:p>
        </p:txBody>
      </p:sp>
      <p:sp>
        <p:nvSpPr>
          <p:cNvPr id="22" name="Text 19"/>
          <p:cNvSpPr/>
          <p:nvPr/>
        </p:nvSpPr>
        <p:spPr>
          <a:xfrm>
            <a:off x="6492240" y="2971800"/>
            <a:ext cx="4572000" cy="1234440"/>
          </a:xfrm>
          <a:prstGeom prst="rect">
            <a:avLst/>
          </a:prstGeom>
          <a:noFill/>
          <a:ln/>
        </p:spPr>
        <p:txBody>
          <a:bodyPr wrap="square" lIns="0" tIns="0" rIns="0" bIns="0" rtlCol="0" anchor="ctr"/>
          <a:lstStyle/>
          <a:p>
            <a:pPr indent="0" marL="0">
              <a:lnSpc>
                <a:spcPct val="125000"/>
              </a:lnSpc>
              <a:buNone/>
            </a:pPr>
            <a:r>
              <a:rPr lang="en-US" sz="1050" dirty="0">
                <a:solidFill>
                  <a:srgbClr val="3E4D44"/>
                </a:solidFill>
                <a:latin typeface="Calibri" pitchFamily="34" charset="0"/>
                <a:ea typeface="Calibri" pitchFamily="34" charset="-122"/>
                <a:cs typeface="Calibri" pitchFamily="34" charset="-120"/>
              </a:rPr>
              <a:t>A custom full-stack web application developed to manage client invoicing, appointment scheduling, and automated PDF receipt generation with role-based access control and MySQL data integrity.</a:t>
            </a:r>
            <a:endParaRPr lang="en-US" sz="1050" dirty="0"/>
          </a:p>
          <a:p>
            <a:pPr indent="0" marL="0">
              <a:lnSpc>
                <a:spcPct val="125000"/>
              </a:lnSpc>
              <a:buNone/>
            </a:pPr>
            <a:endParaRPr lang="en-US" sz="1050" dirty="0"/>
          </a:p>
          <a:p>
            <a:pPr indent="0" marL="0">
              <a:lnSpc>
                <a:spcPct val="125000"/>
              </a:lnSpc>
              <a:buNone/>
            </a:pPr>
            <a:r>
              <a:rPr lang="en-US" sz="1050" dirty="0">
                <a:solidFill>
                  <a:srgbClr val="3E4D44"/>
                </a:solidFill>
                <a:latin typeface="Calibri" pitchFamily="34" charset="0"/>
                <a:ea typeface="Calibri" pitchFamily="34" charset="-122"/>
                <a:cs typeface="Calibri" pitchFamily="34" charset="-120"/>
              </a:rPr>
              <a:t>Delivered as a production freelance solution for a commercial service provider.</a:t>
            </a:r>
            <a:endParaRPr lang="en-US" sz="1050" dirty="0"/>
          </a:p>
        </p:txBody>
      </p:sp>
      <p:sp>
        <p:nvSpPr>
          <p:cNvPr id="23" name="Text 20"/>
          <p:cNvSpPr/>
          <p:nvPr/>
        </p:nvSpPr>
        <p:spPr>
          <a:xfrm>
            <a:off x="6492240" y="4343400"/>
            <a:ext cx="4572000" cy="310896"/>
          </a:xfrm>
          <a:prstGeom prst="rect">
            <a:avLst/>
          </a:prstGeom>
          <a:noFill/>
          <a:ln/>
        </p:spPr>
        <p:txBody>
          <a:bodyPr wrap="square" lIns="0" tIns="0" rIns="0" bIns="0" rtlCol="0" anchor="ctr"/>
          <a:lstStyle/>
          <a:p>
            <a:pPr indent="0" marL="0">
              <a:buNone/>
            </a:pPr>
            <a:r>
              <a:rPr lang="en-US" sz="950" dirty="0">
                <a:solidFill>
                  <a:srgbClr val="3E4D44"/>
                </a:solidFill>
                <a:latin typeface="Calibri" pitchFamily="34" charset="0"/>
                <a:ea typeface="Calibri" pitchFamily="34" charset="-122"/>
                <a:cs typeface="Calibri" pitchFamily="34" charset="-120"/>
              </a:rPr>
              <a:t>• Automated PDF invoice and receipt generation engine.</a:t>
            </a:r>
            <a:endParaRPr lang="en-US" sz="950" dirty="0"/>
          </a:p>
        </p:txBody>
      </p:sp>
      <p:sp>
        <p:nvSpPr>
          <p:cNvPr id="24" name="Text 21"/>
          <p:cNvSpPr/>
          <p:nvPr/>
        </p:nvSpPr>
        <p:spPr>
          <a:xfrm>
            <a:off x="6492240" y="4672584"/>
            <a:ext cx="4572000" cy="310896"/>
          </a:xfrm>
          <a:prstGeom prst="rect">
            <a:avLst/>
          </a:prstGeom>
          <a:noFill/>
          <a:ln/>
        </p:spPr>
        <p:txBody>
          <a:bodyPr wrap="square" lIns="0" tIns="0" rIns="0" bIns="0" rtlCol="0" anchor="ctr"/>
          <a:lstStyle/>
          <a:p>
            <a:pPr indent="0" marL="0">
              <a:buNone/>
            </a:pPr>
            <a:r>
              <a:rPr lang="en-US" sz="950" dirty="0">
                <a:solidFill>
                  <a:srgbClr val="3E4D44"/>
                </a:solidFill>
                <a:latin typeface="Calibri" pitchFamily="34" charset="0"/>
                <a:ea typeface="Calibri" pitchFamily="34" charset="-122"/>
                <a:cs typeface="Calibri" pitchFamily="34" charset="-120"/>
              </a:rPr>
              <a:t>• Role-based authentication (Client, Staff, Administrator).</a:t>
            </a:r>
            <a:endParaRPr lang="en-US" sz="950" dirty="0"/>
          </a:p>
        </p:txBody>
      </p:sp>
      <p:sp>
        <p:nvSpPr>
          <p:cNvPr id="25" name="Text 22"/>
          <p:cNvSpPr/>
          <p:nvPr/>
        </p:nvSpPr>
        <p:spPr>
          <a:xfrm>
            <a:off x="6492240" y="5001768"/>
            <a:ext cx="4572000" cy="310896"/>
          </a:xfrm>
          <a:prstGeom prst="rect">
            <a:avLst/>
          </a:prstGeom>
          <a:noFill/>
          <a:ln/>
        </p:spPr>
        <p:txBody>
          <a:bodyPr wrap="square" lIns="0" tIns="0" rIns="0" bIns="0" rtlCol="0" anchor="ctr"/>
          <a:lstStyle/>
          <a:p>
            <a:pPr indent="0" marL="0">
              <a:buNone/>
            </a:pPr>
            <a:r>
              <a:rPr lang="en-US" sz="950" dirty="0">
                <a:solidFill>
                  <a:srgbClr val="3E4D44"/>
                </a:solidFill>
                <a:latin typeface="Calibri" pitchFamily="34" charset="0"/>
                <a:ea typeface="Calibri" pitchFamily="34" charset="-122"/>
                <a:cs typeface="Calibri" pitchFamily="34" charset="-120"/>
              </a:rPr>
              <a:t>• Automated appointment calendar with SMS/Email notifications.</a:t>
            </a:r>
            <a:endParaRPr lang="en-US" sz="950" dirty="0"/>
          </a:p>
        </p:txBody>
      </p:sp>
      <p:sp>
        <p:nvSpPr>
          <p:cNvPr id="26" name="Text 23"/>
          <p:cNvSpPr/>
          <p:nvPr/>
        </p:nvSpPr>
        <p:spPr>
          <a:xfrm>
            <a:off x="6492240" y="5330952"/>
            <a:ext cx="4572000" cy="310896"/>
          </a:xfrm>
          <a:prstGeom prst="rect">
            <a:avLst/>
          </a:prstGeom>
          <a:noFill/>
          <a:ln/>
        </p:spPr>
        <p:txBody>
          <a:bodyPr wrap="square" lIns="0" tIns="0" rIns="0" bIns="0" rtlCol="0" anchor="ctr"/>
          <a:lstStyle/>
          <a:p>
            <a:pPr indent="0" marL="0">
              <a:buNone/>
            </a:pPr>
            <a:r>
              <a:rPr lang="en-US" sz="950" dirty="0">
                <a:solidFill>
                  <a:srgbClr val="3E4D44"/>
                </a:solidFill>
                <a:latin typeface="Calibri" pitchFamily="34" charset="0"/>
                <a:ea typeface="Calibri" pitchFamily="34" charset="-122"/>
                <a:cs typeface="Calibri" pitchFamily="34" charset="-120"/>
              </a:rPr>
              <a:t>• Zero data discrepancy audit logs for financial reconciliation.</a:t>
            </a:r>
            <a:endParaRPr lang="en-US" sz="950" dirty="0"/>
          </a:p>
        </p:txBody>
      </p:sp>
      <p:sp>
        <p:nvSpPr>
          <p:cNvPr id="27" name="Text 24"/>
          <p:cNvSpPr/>
          <p:nvPr/>
        </p:nvSpPr>
        <p:spPr>
          <a:xfrm>
            <a:off x="6492240" y="5806440"/>
            <a:ext cx="4572000" cy="274320"/>
          </a:xfrm>
          <a:prstGeom prst="rect">
            <a:avLst/>
          </a:prstGeom>
          <a:noFill/>
          <a:ln/>
        </p:spPr>
        <p:txBody>
          <a:bodyPr wrap="square" lIns="0" tIns="0" rIns="0" bIns="0" rtlCol="0" anchor="ctr"/>
          <a:lstStyle/>
          <a:p>
            <a:pPr indent="0" marL="0">
              <a:buNone/>
            </a:pPr>
            <a:r>
              <a:rPr lang="en-US" sz="850" b="1" dirty="0">
                <a:solidFill>
                  <a:srgbClr val="15803D"/>
                </a:solidFill>
                <a:latin typeface="Calibri" pitchFamily="34" charset="0"/>
                <a:ea typeface="Calibri" pitchFamily="34" charset="-122"/>
                <a:cs typeface="Calibri" pitchFamily="34" charset="-120"/>
              </a:rPr>
              <a:t>TECH STACK: Laravel  ·  Vue.js 3  ·  Vite  ·  MySQL  ·  Tailwind CSS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EBF7EE"/>
          </a:solidFill>
          <a:ln w="12700">
            <a:solidFill>
              <a:srgbClr val="C2E5CD"/>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15803D"/>
                </a:solidFill>
                <a:latin typeface="Calibri" pitchFamily="34" charset="0"/>
                <a:ea typeface="Calibri" pitchFamily="34" charset="-122"/>
                <a:cs typeface="Calibri" pitchFamily="34" charset="-120"/>
              </a:rPr>
              <a:t>09 · CAREER JOURNEY</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6D7E74"/>
                </a:solidFill>
                <a:latin typeface="Calibri" pitchFamily="34" charset="0"/>
                <a:ea typeface="Calibri" pitchFamily="34" charset="-122"/>
                <a:cs typeface="Calibri" pitchFamily="34" charset="-120"/>
              </a:rPr>
              <a:t>10 / 11</a:t>
            </a:r>
            <a:endParaRPr lang="en-US" sz="1000" dirty="0"/>
          </a:p>
        </p:txBody>
      </p:sp>
      <p:sp>
        <p:nvSpPr>
          <p:cNvPr id="5" name="Text 3"/>
          <p:cNvSpPr/>
          <p:nvPr/>
        </p:nvSpPr>
        <p:spPr>
          <a:xfrm>
            <a:off x="731520" y="859536"/>
            <a:ext cx="10698480" cy="475488"/>
          </a:xfrm>
          <a:prstGeom prst="rect">
            <a:avLst/>
          </a:prstGeom>
          <a:noFill/>
          <a:ln/>
        </p:spPr>
        <p:txBody>
          <a:bodyPr wrap="square" lIns="0" tIns="0" rIns="0" bIns="0" rtlCol="0" anchor="t"/>
          <a:lstStyle/>
          <a:p>
            <a:pPr indent="0" marL="0">
              <a:buNone/>
            </a:pPr>
            <a:r>
              <a:rPr lang="en-US" sz="2400" b="1" dirty="0">
                <a:solidFill>
                  <a:srgbClr val="131E18"/>
                </a:solidFill>
                <a:latin typeface="Georgia" pitchFamily="34" charset="0"/>
                <a:ea typeface="Georgia" pitchFamily="34" charset="-122"/>
                <a:cs typeface="Georgia" pitchFamily="34" charset="-120"/>
              </a:rPr>
              <a:t>Track Record of Impact &amp; Milestones</a:t>
            </a:r>
            <a:endParaRPr lang="en-US" sz="2400" dirty="0"/>
          </a:p>
        </p:txBody>
      </p:sp>
      <p:sp>
        <p:nvSpPr>
          <p:cNvPr id="6" name="Text 4"/>
          <p:cNvSpPr/>
          <p:nvPr/>
        </p:nvSpPr>
        <p:spPr>
          <a:xfrm>
            <a:off x="731520" y="1371600"/>
            <a:ext cx="10698480" cy="292608"/>
          </a:xfrm>
          <a:prstGeom prst="rect">
            <a:avLst/>
          </a:prstGeom>
          <a:noFill/>
          <a:ln/>
        </p:spPr>
        <p:txBody>
          <a:bodyPr wrap="square" lIns="0" tIns="0" rIns="0" bIns="0" rtlCol="0" anchor="t"/>
          <a:lstStyle/>
          <a:p>
            <a:pPr indent="0" marL="0">
              <a:buNone/>
            </a:pPr>
            <a:r>
              <a:rPr lang="en-US" sz="1250" dirty="0">
                <a:solidFill>
                  <a:srgbClr val="3E4D44"/>
                </a:solidFill>
                <a:latin typeface="Calibri" pitchFamily="34" charset="0"/>
                <a:ea typeface="Calibri" pitchFamily="34" charset="-122"/>
                <a:cs typeface="Calibri" pitchFamily="34" charset="-120"/>
              </a:rPr>
              <a:t>Consistent trajectory across enterprise software engineering, academic excellence, and continuous growth.</a:t>
            </a:r>
            <a:endParaRPr lang="en-US" sz="1250" dirty="0"/>
          </a:p>
        </p:txBody>
      </p:sp>
      <p:sp>
        <p:nvSpPr>
          <p:cNvPr id="7" name="Shape 5"/>
          <p:cNvSpPr/>
          <p:nvPr/>
        </p:nvSpPr>
        <p:spPr>
          <a:xfrm>
            <a:off x="731520" y="1874520"/>
            <a:ext cx="10728655" cy="1005840"/>
          </a:xfrm>
          <a:prstGeom prst="roundRect">
            <a:avLst>
              <a:gd name="adj" fmla="val 16364"/>
            </a:avLst>
          </a:prstGeom>
          <a:solidFill>
            <a:srgbClr val="FFFFFF"/>
          </a:solidFill>
          <a:ln w="12700">
            <a:solidFill>
              <a:srgbClr val="E4E0D1"/>
            </a:solidFill>
            <a:prstDash val="solid"/>
          </a:ln>
        </p:spPr>
      </p:sp>
      <p:sp>
        <p:nvSpPr>
          <p:cNvPr id="8" name="Shape 6"/>
          <p:cNvSpPr/>
          <p:nvPr/>
        </p:nvSpPr>
        <p:spPr>
          <a:xfrm>
            <a:off x="1005840" y="2057400"/>
            <a:ext cx="1188720" cy="237744"/>
          </a:xfrm>
          <a:prstGeom prst="roundRect">
            <a:avLst>
              <a:gd name="adj" fmla="val 50000"/>
            </a:avLst>
          </a:prstGeom>
          <a:solidFill>
            <a:srgbClr val="EBF7EE"/>
          </a:solidFill>
          <a:ln w="12700">
            <a:solidFill>
              <a:srgbClr val="C2E5CD"/>
            </a:solidFill>
            <a:prstDash val="solid"/>
          </a:ln>
        </p:spPr>
      </p:sp>
      <p:sp>
        <p:nvSpPr>
          <p:cNvPr id="9" name="Text 7"/>
          <p:cNvSpPr/>
          <p:nvPr/>
        </p:nvSpPr>
        <p:spPr>
          <a:xfrm>
            <a:off x="1005840" y="2057400"/>
            <a:ext cx="1188720" cy="237744"/>
          </a:xfrm>
          <a:prstGeom prst="rect">
            <a:avLst/>
          </a:prstGeom>
          <a:noFill/>
          <a:ln/>
        </p:spPr>
        <p:txBody>
          <a:bodyPr wrap="square" lIns="0" tIns="0" rIns="0" bIns="0" rtlCol="0" anchor="ctr"/>
          <a:lstStyle/>
          <a:p>
            <a:pPr algn="ctr" indent="0" marL="0">
              <a:buNone/>
            </a:pPr>
            <a:r>
              <a:rPr lang="en-US" sz="750" b="1" dirty="0">
                <a:solidFill>
                  <a:srgbClr val="15803D"/>
                </a:solidFill>
                <a:latin typeface="Calibri" pitchFamily="34" charset="0"/>
                <a:ea typeface="Calibri" pitchFamily="34" charset="-122"/>
                <a:cs typeface="Calibri" pitchFamily="34" charset="-120"/>
              </a:rPr>
              <a:t>PRODUCTION</a:t>
            </a:r>
            <a:endParaRPr lang="en-US" sz="750" dirty="0"/>
          </a:p>
        </p:txBody>
      </p:sp>
      <p:sp>
        <p:nvSpPr>
          <p:cNvPr id="10" name="Text 8"/>
          <p:cNvSpPr/>
          <p:nvPr/>
        </p:nvSpPr>
        <p:spPr>
          <a:xfrm>
            <a:off x="2331720" y="2057400"/>
            <a:ext cx="2011680" cy="237744"/>
          </a:xfrm>
          <a:prstGeom prst="rect">
            <a:avLst/>
          </a:prstGeom>
          <a:noFill/>
          <a:ln/>
        </p:spPr>
        <p:txBody>
          <a:bodyPr wrap="square" lIns="0" tIns="0" rIns="0" bIns="0" rtlCol="0" anchor="ctr"/>
          <a:lstStyle/>
          <a:p>
            <a:pPr indent="0" marL="0">
              <a:buNone/>
            </a:pPr>
            <a:r>
              <a:rPr lang="en-US" sz="900" b="1" dirty="0">
                <a:solidFill>
                  <a:srgbClr val="6D7E74"/>
                </a:solidFill>
                <a:latin typeface="Calibri" pitchFamily="34" charset="0"/>
                <a:ea typeface="Calibri" pitchFamily="34" charset="-122"/>
                <a:cs typeface="Calibri" pitchFamily="34" charset="-120"/>
              </a:rPr>
              <a:t>DEC 2025 – PRESENT</a:t>
            </a:r>
            <a:endParaRPr lang="en-US" sz="900" dirty="0"/>
          </a:p>
        </p:txBody>
      </p:sp>
      <p:sp>
        <p:nvSpPr>
          <p:cNvPr id="11" name="Text 9"/>
          <p:cNvSpPr/>
          <p:nvPr/>
        </p:nvSpPr>
        <p:spPr>
          <a:xfrm>
            <a:off x="1005840" y="2350008"/>
            <a:ext cx="10058400" cy="237744"/>
          </a:xfrm>
          <a:prstGeom prst="rect">
            <a:avLst/>
          </a:prstGeom>
          <a:noFill/>
          <a:ln/>
        </p:spPr>
        <p:txBody>
          <a:bodyPr wrap="square" lIns="0" tIns="0" rIns="0" bIns="0" rtlCol="0" anchor="ctr"/>
          <a:lstStyle/>
          <a:p>
            <a:pPr indent="0" marL="0">
              <a:buNone/>
            </a:pPr>
            <a:r>
              <a:rPr lang="en-US" sz="1300" b="1" dirty="0">
                <a:solidFill>
                  <a:srgbClr val="131E18"/>
                </a:solidFill>
                <a:latin typeface="Georgia" pitchFamily="34" charset="0"/>
                <a:ea typeface="Georgia" pitchFamily="34" charset="-122"/>
                <a:cs typeface="Georgia" pitchFamily="34" charset="-120"/>
              </a:rPr>
              <a:t>Backend Developer Intern</a:t>
            </a:r>
            <a:pPr indent="0" marL="0">
              <a:buNone/>
            </a:pPr>
            <a:r>
              <a:rPr lang="en-US" sz="1000" dirty="0">
                <a:solidFill>
                  <a:srgbClr val="6D7E74"/>
                </a:solidFill>
                <a:latin typeface="Calibri" pitchFamily="34" charset="0"/>
                <a:ea typeface="Calibri" pitchFamily="34" charset="-122"/>
                <a:cs typeface="Calibri" pitchFamily="34" charset="-120"/>
              </a:rPr>
              <a:t>  ·  Badan Sistem Informasi · Universitas Islam Indonesia</a:t>
            </a:r>
            <a:endParaRPr lang="en-US" sz="1300" dirty="0"/>
          </a:p>
        </p:txBody>
      </p:sp>
      <p:sp>
        <p:nvSpPr>
          <p:cNvPr id="12" name="Text 10"/>
          <p:cNvSpPr/>
          <p:nvPr/>
        </p:nvSpPr>
        <p:spPr>
          <a:xfrm>
            <a:off x="1005840" y="2587752"/>
            <a:ext cx="10058400" cy="228600"/>
          </a:xfrm>
          <a:prstGeom prst="rect">
            <a:avLst/>
          </a:prstGeom>
          <a:noFill/>
          <a:ln/>
        </p:spPr>
        <p:txBody>
          <a:bodyPr wrap="square" lIns="0" tIns="0" rIns="0" bIns="0" rtlCol="0" anchor="ctr"/>
          <a:lstStyle/>
          <a:p>
            <a:pPr indent="0" marL="0">
              <a:buNone/>
            </a:pPr>
            <a:r>
              <a:rPr lang="en-US" sz="950" dirty="0">
                <a:solidFill>
                  <a:srgbClr val="3E4D44"/>
                </a:solidFill>
                <a:latin typeface="Calibri" pitchFamily="34" charset="0"/>
                <a:ea typeface="Calibri" pitchFamily="34" charset="-122"/>
                <a:cs typeface="Calibri" pitchFamily="34" charset="-120"/>
              </a:rPr>
              <a:t>Assisting in developing REST APIs with Laravel and Lumen, organizing normalized MySQL databases, and exploring Model Context Protocol (MCP) AI integrations.</a:t>
            </a:r>
            <a:endParaRPr lang="en-US" sz="950" dirty="0"/>
          </a:p>
        </p:txBody>
      </p:sp>
      <p:sp>
        <p:nvSpPr>
          <p:cNvPr id="13" name="Shape 11"/>
          <p:cNvSpPr/>
          <p:nvPr/>
        </p:nvSpPr>
        <p:spPr>
          <a:xfrm>
            <a:off x="731520" y="2990088"/>
            <a:ext cx="10728655" cy="1005840"/>
          </a:xfrm>
          <a:prstGeom prst="roundRect">
            <a:avLst>
              <a:gd name="adj" fmla="val 16364"/>
            </a:avLst>
          </a:prstGeom>
          <a:solidFill>
            <a:srgbClr val="FFFFFF"/>
          </a:solidFill>
          <a:ln w="12700">
            <a:solidFill>
              <a:srgbClr val="E4E0D1"/>
            </a:solidFill>
            <a:prstDash val="solid"/>
          </a:ln>
        </p:spPr>
      </p:sp>
      <p:sp>
        <p:nvSpPr>
          <p:cNvPr id="14" name="Shape 12"/>
          <p:cNvSpPr/>
          <p:nvPr/>
        </p:nvSpPr>
        <p:spPr>
          <a:xfrm>
            <a:off x="1005840" y="3172968"/>
            <a:ext cx="1188720" cy="237744"/>
          </a:xfrm>
          <a:prstGeom prst="roundRect">
            <a:avLst>
              <a:gd name="adj" fmla="val 50000"/>
            </a:avLst>
          </a:prstGeom>
          <a:solidFill>
            <a:srgbClr val="EBF7EE"/>
          </a:solidFill>
          <a:ln w="12700">
            <a:solidFill>
              <a:srgbClr val="C2E5CD"/>
            </a:solidFill>
            <a:prstDash val="solid"/>
          </a:ln>
        </p:spPr>
      </p:sp>
      <p:sp>
        <p:nvSpPr>
          <p:cNvPr id="15" name="Text 13"/>
          <p:cNvSpPr/>
          <p:nvPr/>
        </p:nvSpPr>
        <p:spPr>
          <a:xfrm>
            <a:off x="1005840" y="3172968"/>
            <a:ext cx="1188720" cy="237744"/>
          </a:xfrm>
          <a:prstGeom prst="rect">
            <a:avLst/>
          </a:prstGeom>
          <a:noFill/>
          <a:ln/>
        </p:spPr>
        <p:txBody>
          <a:bodyPr wrap="square" lIns="0" tIns="0" rIns="0" bIns="0" rtlCol="0" anchor="ctr"/>
          <a:lstStyle/>
          <a:p>
            <a:pPr algn="ctr" indent="0" marL="0">
              <a:buNone/>
            </a:pPr>
            <a:r>
              <a:rPr lang="en-US" sz="750" b="1" dirty="0">
                <a:solidFill>
                  <a:srgbClr val="15803D"/>
                </a:solidFill>
                <a:latin typeface="Calibri" pitchFamily="34" charset="0"/>
                <a:ea typeface="Calibri" pitchFamily="34" charset="-122"/>
                <a:cs typeface="Calibri" pitchFamily="34" charset="-120"/>
              </a:rPr>
              <a:t>GOVERNANCE</a:t>
            </a:r>
            <a:endParaRPr lang="en-US" sz="750" dirty="0"/>
          </a:p>
        </p:txBody>
      </p:sp>
      <p:sp>
        <p:nvSpPr>
          <p:cNvPr id="16" name="Text 14"/>
          <p:cNvSpPr/>
          <p:nvPr/>
        </p:nvSpPr>
        <p:spPr>
          <a:xfrm>
            <a:off x="2331720" y="3172968"/>
            <a:ext cx="2011680" cy="237744"/>
          </a:xfrm>
          <a:prstGeom prst="rect">
            <a:avLst/>
          </a:prstGeom>
          <a:noFill/>
          <a:ln/>
        </p:spPr>
        <p:txBody>
          <a:bodyPr wrap="square" lIns="0" tIns="0" rIns="0" bIns="0" rtlCol="0" anchor="ctr"/>
          <a:lstStyle/>
          <a:p>
            <a:pPr indent="0" marL="0">
              <a:buNone/>
            </a:pPr>
            <a:r>
              <a:rPr lang="en-US" sz="900" b="1" dirty="0">
                <a:solidFill>
                  <a:srgbClr val="6D7E74"/>
                </a:solidFill>
                <a:latin typeface="Calibri" pitchFamily="34" charset="0"/>
                <a:ea typeface="Calibri" pitchFamily="34" charset="-122"/>
                <a:cs typeface="Calibri" pitchFamily="34" charset="-120"/>
              </a:rPr>
              <a:t>AUG 2024 – DEC 2024</a:t>
            </a:r>
            <a:endParaRPr lang="en-US" sz="900" dirty="0"/>
          </a:p>
        </p:txBody>
      </p:sp>
      <p:sp>
        <p:nvSpPr>
          <p:cNvPr id="17" name="Text 15"/>
          <p:cNvSpPr/>
          <p:nvPr/>
        </p:nvSpPr>
        <p:spPr>
          <a:xfrm>
            <a:off x="1005840" y="3465576"/>
            <a:ext cx="10058400" cy="237744"/>
          </a:xfrm>
          <a:prstGeom prst="rect">
            <a:avLst/>
          </a:prstGeom>
          <a:noFill/>
          <a:ln/>
        </p:spPr>
        <p:txBody>
          <a:bodyPr wrap="square" lIns="0" tIns="0" rIns="0" bIns="0" rtlCol="0" anchor="ctr"/>
          <a:lstStyle/>
          <a:p>
            <a:pPr indent="0" marL="0">
              <a:buNone/>
            </a:pPr>
            <a:r>
              <a:rPr lang="en-US" sz="1300" b="1" dirty="0">
                <a:solidFill>
                  <a:srgbClr val="131E18"/>
                </a:solidFill>
                <a:latin typeface="Georgia" pitchFamily="34" charset="0"/>
                <a:ea typeface="Georgia" pitchFamily="34" charset="-122"/>
                <a:cs typeface="Georgia" pitchFamily="34" charset="-120"/>
              </a:rPr>
              <a:t>Enterprise Architecture &amp; Systems Intern</a:t>
            </a:r>
            <a:pPr indent="0" marL="0">
              <a:buNone/>
            </a:pPr>
            <a:r>
              <a:rPr lang="en-US" sz="1000" dirty="0">
                <a:solidFill>
                  <a:srgbClr val="6D7E74"/>
                </a:solidFill>
                <a:latin typeface="Calibri" pitchFamily="34" charset="0"/>
                <a:ea typeface="Calibri" pitchFamily="34" charset="-122"/>
                <a:cs typeface="Calibri" pitchFamily="34" charset="-120"/>
              </a:rPr>
              <a:t>  ·  Badan Sistem Informasi · Universitas Islam Indonesia</a:t>
            </a:r>
            <a:endParaRPr lang="en-US" sz="1300" dirty="0"/>
          </a:p>
        </p:txBody>
      </p:sp>
      <p:sp>
        <p:nvSpPr>
          <p:cNvPr id="18" name="Text 16"/>
          <p:cNvSpPr/>
          <p:nvPr/>
        </p:nvSpPr>
        <p:spPr>
          <a:xfrm>
            <a:off x="1005840" y="3703320"/>
            <a:ext cx="10058400" cy="228600"/>
          </a:xfrm>
          <a:prstGeom prst="rect">
            <a:avLst/>
          </a:prstGeom>
          <a:noFill/>
          <a:ln/>
        </p:spPr>
        <p:txBody>
          <a:bodyPr wrap="square" lIns="0" tIns="0" rIns="0" bIns="0" rtlCol="0" anchor="ctr"/>
          <a:lstStyle/>
          <a:p>
            <a:pPr indent="0" marL="0">
              <a:buNone/>
            </a:pPr>
            <a:r>
              <a:rPr lang="en-US" sz="950" dirty="0">
                <a:solidFill>
                  <a:srgbClr val="3E4D44"/>
                </a:solidFill>
                <a:latin typeface="Calibri" pitchFamily="34" charset="0"/>
                <a:ea typeface="Calibri" pitchFamily="34" charset="-122"/>
                <a:cs typeface="Calibri" pitchFamily="34" charset="-120"/>
              </a:rPr>
              <a:t>Mapped enterprise business processes, maintained application catalog repositories, and evaluated service interdependencies across campus platforms.</a:t>
            </a:r>
            <a:endParaRPr lang="en-US" sz="950" dirty="0"/>
          </a:p>
        </p:txBody>
      </p:sp>
      <p:sp>
        <p:nvSpPr>
          <p:cNvPr id="19" name="Shape 17"/>
          <p:cNvSpPr/>
          <p:nvPr/>
        </p:nvSpPr>
        <p:spPr>
          <a:xfrm>
            <a:off x="731520" y="4105656"/>
            <a:ext cx="10728655" cy="1005840"/>
          </a:xfrm>
          <a:prstGeom prst="roundRect">
            <a:avLst>
              <a:gd name="adj" fmla="val 16364"/>
            </a:avLst>
          </a:prstGeom>
          <a:solidFill>
            <a:srgbClr val="FFFFFF"/>
          </a:solidFill>
          <a:ln w="12700">
            <a:solidFill>
              <a:srgbClr val="E4E0D1"/>
            </a:solidFill>
            <a:prstDash val="solid"/>
          </a:ln>
        </p:spPr>
      </p:sp>
      <p:sp>
        <p:nvSpPr>
          <p:cNvPr id="20" name="Shape 18"/>
          <p:cNvSpPr/>
          <p:nvPr/>
        </p:nvSpPr>
        <p:spPr>
          <a:xfrm>
            <a:off x="1005840" y="4288536"/>
            <a:ext cx="1188720" cy="237744"/>
          </a:xfrm>
          <a:prstGeom prst="roundRect">
            <a:avLst>
              <a:gd name="adj" fmla="val 50000"/>
            </a:avLst>
          </a:prstGeom>
          <a:solidFill>
            <a:srgbClr val="EBF7EE"/>
          </a:solidFill>
          <a:ln w="12700">
            <a:solidFill>
              <a:srgbClr val="C2E5CD"/>
            </a:solidFill>
            <a:prstDash val="solid"/>
          </a:ln>
        </p:spPr>
      </p:sp>
      <p:sp>
        <p:nvSpPr>
          <p:cNvPr id="21" name="Text 19"/>
          <p:cNvSpPr/>
          <p:nvPr/>
        </p:nvSpPr>
        <p:spPr>
          <a:xfrm>
            <a:off x="1005840" y="4288536"/>
            <a:ext cx="1188720" cy="237744"/>
          </a:xfrm>
          <a:prstGeom prst="rect">
            <a:avLst/>
          </a:prstGeom>
          <a:noFill/>
          <a:ln/>
        </p:spPr>
        <p:txBody>
          <a:bodyPr wrap="square" lIns="0" tIns="0" rIns="0" bIns="0" rtlCol="0" anchor="ctr"/>
          <a:lstStyle/>
          <a:p>
            <a:pPr algn="ctr" indent="0" marL="0">
              <a:buNone/>
            </a:pPr>
            <a:r>
              <a:rPr lang="en-US" sz="750" b="1" dirty="0">
                <a:solidFill>
                  <a:srgbClr val="15803D"/>
                </a:solidFill>
                <a:latin typeface="Calibri" pitchFamily="34" charset="0"/>
                <a:ea typeface="Calibri" pitchFamily="34" charset="-122"/>
                <a:cs typeface="Calibri" pitchFamily="34" charset="-120"/>
              </a:rPr>
              <a:t>CLOUD</a:t>
            </a:r>
            <a:endParaRPr lang="en-US" sz="750" dirty="0"/>
          </a:p>
        </p:txBody>
      </p:sp>
      <p:sp>
        <p:nvSpPr>
          <p:cNvPr id="22" name="Text 20"/>
          <p:cNvSpPr/>
          <p:nvPr/>
        </p:nvSpPr>
        <p:spPr>
          <a:xfrm>
            <a:off x="2331720" y="4288536"/>
            <a:ext cx="2011680" cy="237744"/>
          </a:xfrm>
          <a:prstGeom prst="rect">
            <a:avLst/>
          </a:prstGeom>
          <a:noFill/>
          <a:ln/>
        </p:spPr>
        <p:txBody>
          <a:bodyPr wrap="square" lIns="0" tIns="0" rIns="0" bIns="0" rtlCol="0" anchor="ctr"/>
          <a:lstStyle/>
          <a:p>
            <a:pPr indent="0" marL="0">
              <a:buNone/>
            </a:pPr>
            <a:r>
              <a:rPr lang="en-US" sz="900" b="1" dirty="0">
                <a:solidFill>
                  <a:srgbClr val="6D7E74"/>
                </a:solidFill>
                <a:latin typeface="Calibri" pitchFamily="34" charset="0"/>
                <a:ea typeface="Calibri" pitchFamily="34" charset="-122"/>
                <a:cs typeface="Calibri" pitchFamily="34" charset="-120"/>
              </a:rPr>
              <a:t>MAY 2024 – AUG 2024</a:t>
            </a:r>
            <a:endParaRPr lang="en-US" sz="900" dirty="0"/>
          </a:p>
        </p:txBody>
      </p:sp>
      <p:sp>
        <p:nvSpPr>
          <p:cNvPr id="23" name="Text 21"/>
          <p:cNvSpPr/>
          <p:nvPr/>
        </p:nvSpPr>
        <p:spPr>
          <a:xfrm>
            <a:off x="1005840" y="4581144"/>
            <a:ext cx="10058400" cy="237744"/>
          </a:xfrm>
          <a:prstGeom prst="rect">
            <a:avLst/>
          </a:prstGeom>
          <a:noFill/>
          <a:ln/>
        </p:spPr>
        <p:txBody>
          <a:bodyPr wrap="square" lIns="0" tIns="0" rIns="0" bIns="0" rtlCol="0" anchor="ctr"/>
          <a:lstStyle/>
          <a:p>
            <a:pPr indent="0" marL="0">
              <a:buNone/>
            </a:pPr>
            <a:r>
              <a:rPr lang="en-US" sz="1300" b="1" dirty="0">
                <a:solidFill>
                  <a:srgbClr val="131E18"/>
                </a:solidFill>
                <a:latin typeface="Georgia" pitchFamily="34" charset="0"/>
                <a:ea typeface="Georgia" pitchFamily="34" charset="-122"/>
                <a:cs typeface="Georgia" pitchFamily="34" charset="-120"/>
              </a:rPr>
              <a:t>AWS re/Start Cloud Graduate</a:t>
            </a:r>
            <a:pPr indent="0" marL="0">
              <a:buNone/>
            </a:pPr>
            <a:r>
              <a:rPr lang="en-US" sz="1000" dirty="0">
                <a:solidFill>
                  <a:srgbClr val="6D7E74"/>
                </a:solidFill>
                <a:latin typeface="Calibri" pitchFamily="34" charset="0"/>
                <a:ea typeface="Calibri" pitchFamily="34" charset="-122"/>
                <a:cs typeface="Calibri" pitchFamily="34" charset="-120"/>
              </a:rPr>
              <a:t>  ·  Amazon Web Services &amp; Dicoding Indonesia</a:t>
            </a:r>
            <a:endParaRPr lang="en-US" sz="1300" dirty="0"/>
          </a:p>
        </p:txBody>
      </p:sp>
      <p:sp>
        <p:nvSpPr>
          <p:cNvPr id="24" name="Text 22"/>
          <p:cNvSpPr/>
          <p:nvPr/>
        </p:nvSpPr>
        <p:spPr>
          <a:xfrm>
            <a:off x="1005840" y="4818888"/>
            <a:ext cx="10058400" cy="228600"/>
          </a:xfrm>
          <a:prstGeom prst="rect">
            <a:avLst/>
          </a:prstGeom>
          <a:noFill/>
          <a:ln/>
        </p:spPr>
        <p:txBody>
          <a:bodyPr wrap="square" lIns="0" tIns="0" rIns="0" bIns="0" rtlCol="0" anchor="ctr"/>
          <a:lstStyle/>
          <a:p>
            <a:pPr indent="0" marL="0">
              <a:buNone/>
            </a:pPr>
            <a:r>
              <a:rPr lang="en-US" sz="950" dirty="0">
                <a:solidFill>
                  <a:srgbClr val="3E4D44"/>
                </a:solidFill>
                <a:latin typeface="Calibri" pitchFamily="34" charset="0"/>
                <a:ea typeface="Calibri" pitchFamily="34" charset="-122"/>
                <a:cs typeface="Calibri" pitchFamily="34" charset="-120"/>
              </a:rPr>
              <a:t>Completed intensive 400+ hours training covering AWS cloud architecture, VPC networking, IAM security, Linux systems, and automated deployment pipelines.</a:t>
            </a:r>
            <a:endParaRPr lang="en-US" sz="950" dirty="0"/>
          </a:p>
        </p:txBody>
      </p:sp>
      <p:sp>
        <p:nvSpPr>
          <p:cNvPr id="25" name="Shape 23"/>
          <p:cNvSpPr/>
          <p:nvPr/>
        </p:nvSpPr>
        <p:spPr>
          <a:xfrm>
            <a:off x="731520" y="5221224"/>
            <a:ext cx="10728655" cy="1005840"/>
          </a:xfrm>
          <a:prstGeom prst="roundRect">
            <a:avLst>
              <a:gd name="adj" fmla="val 16364"/>
            </a:avLst>
          </a:prstGeom>
          <a:solidFill>
            <a:srgbClr val="FFFFFF"/>
          </a:solidFill>
          <a:ln w="12700">
            <a:solidFill>
              <a:srgbClr val="E4E0D1"/>
            </a:solidFill>
            <a:prstDash val="solid"/>
          </a:ln>
        </p:spPr>
      </p:sp>
      <p:sp>
        <p:nvSpPr>
          <p:cNvPr id="26" name="Shape 24"/>
          <p:cNvSpPr/>
          <p:nvPr/>
        </p:nvSpPr>
        <p:spPr>
          <a:xfrm>
            <a:off x="1005840" y="5404104"/>
            <a:ext cx="1188720" cy="237744"/>
          </a:xfrm>
          <a:prstGeom prst="roundRect">
            <a:avLst>
              <a:gd name="adj" fmla="val 50000"/>
            </a:avLst>
          </a:prstGeom>
          <a:solidFill>
            <a:srgbClr val="EBF7EE"/>
          </a:solidFill>
          <a:ln w="12700">
            <a:solidFill>
              <a:srgbClr val="C2E5CD"/>
            </a:solidFill>
            <a:prstDash val="solid"/>
          </a:ln>
        </p:spPr>
      </p:sp>
      <p:sp>
        <p:nvSpPr>
          <p:cNvPr id="27" name="Text 25"/>
          <p:cNvSpPr/>
          <p:nvPr/>
        </p:nvSpPr>
        <p:spPr>
          <a:xfrm>
            <a:off x="1005840" y="5404104"/>
            <a:ext cx="1188720" cy="237744"/>
          </a:xfrm>
          <a:prstGeom prst="rect">
            <a:avLst/>
          </a:prstGeom>
          <a:noFill/>
          <a:ln/>
        </p:spPr>
        <p:txBody>
          <a:bodyPr wrap="square" lIns="0" tIns="0" rIns="0" bIns="0" rtlCol="0" anchor="ctr"/>
          <a:lstStyle/>
          <a:p>
            <a:pPr algn="ctr" indent="0" marL="0">
              <a:buNone/>
            </a:pPr>
            <a:r>
              <a:rPr lang="en-US" sz="750" b="1" dirty="0">
                <a:solidFill>
                  <a:srgbClr val="15803D"/>
                </a:solidFill>
                <a:latin typeface="Calibri" pitchFamily="34" charset="0"/>
                <a:ea typeface="Calibri" pitchFamily="34" charset="-122"/>
                <a:cs typeface="Calibri" pitchFamily="34" charset="-120"/>
              </a:rPr>
              <a:t>HONORS</a:t>
            </a:r>
            <a:endParaRPr lang="en-US" sz="750" dirty="0"/>
          </a:p>
        </p:txBody>
      </p:sp>
      <p:sp>
        <p:nvSpPr>
          <p:cNvPr id="28" name="Text 26"/>
          <p:cNvSpPr/>
          <p:nvPr/>
        </p:nvSpPr>
        <p:spPr>
          <a:xfrm>
            <a:off x="2331720" y="5404104"/>
            <a:ext cx="2011680" cy="237744"/>
          </a:xfrm>
          <a:prstGeom prst="rect">
            <a:avLst/>
          </a:prstGeom>
          <a:noFill/>
          <a:ln/>
        </p:spPr>
        <p:txBody>
          <a:bodyPr wrap="square" lIns="0" tIns="0" rIns="0" bIns="0" rtlCol="0" anchor="ctr"/>
          <a:lstStyle/>
          <a:p>
            <a:pPr indent="0" marL="0">
              <a:buNone/>
            </a:pPr>
            <a:r>
              <a:rPr lang="en-US" sz="900" b="1" dirty="0">
                <a:solidFill>
                  <a:srgbClr val="6D7E74"/>
                </a:solidFill>
                <a:latin typeface="Calibri" pitchFamily="34" charset="0"/>
                <a:ea typeface="Calibri" pitchFamily="34" charset="-122"/>
                <a:cs typeface="Calibri" pitchFamily="34" charset="-120"/>
              </a:rPr>
              <a:t>2021 – 2026</a:t>
            </a:r>
            <a:endParaRPr lang="en-US" sz="900" dirty="0"/>
          </a:p>
        </p:txBody>
      </p:sp>
      <p:sp>
        <p:nvSpPr>
          <p:cNvPr id="29" name="Text 27"/>
          <p:cNvSpPr/>
          <p:nvPr/>
        </p:nvSpPr>
        <p:spPr>
          <a:xfrm>
            <a:off x="1005840" y="5696712"/>
            <a:ext cx="10058400" cy="237744"/>
          </a:xfrm>
          <a:prstGeom prst="rect">
            <a:avLst/>
          </a:prstGeom>
          <a:noFill/>
          <a:ln/>
        </p:spPr>
        <p:txBody>
          <a:bodyPr wrap="square" lIns="0" tIns="0" rIns="0" bIns="0" rtlCol="0" anchor="ctr"/>
          <a:lstStyle/>
          <a:p>
            <a:pPr indent="0" marL="0">
              <a:buNone/>
            </a:pPr>
            <a:r>
              <a:rPr lang="en-US" sz="1300" b="1" dirty="0">
                <a:solidFill>
                  <a:srgbClr val="131E18"/>
                </a:solidFill>
                <a:latin typeface="Georgia" pitchFamily="34" charset="0"/>
                <a:ea typeface="Georgia" pitchFamily="34" charset="-122"/>
                <a:cs typeface="Georgia" pitchFamily="34" charset="-120"/>
              </a:rPr>
              <a:t>Bachelor of Informatics (GPA 3.81 / 4.00)</a:t>
            </a:r>
            <a:pPr indent="0" marL="0">
              <a:buNone/>
            </a:pPr>
            <a:r>
              <a:rPr lang="en-US" sz="1000" dirty="0">
                <a:solidFill>
                  <a:srgbClr val="6D7E74"/>
                </a:solidFill>
                <a:latin typeface="Calibri" pitchFamily="34" charset="0"/>
                <a:ea typeface="Calibri" pitchFamily="34" charset="-122"/>
                <a:cs typeface="Calibri" pitchFamily="34" charset="-120"/>
              </a:rPr>
              <a:t>  ·  Universitas Islam Indonesia</a:t>
            </a:r>
            <a:endParaRPr lang="en-US" sz="1300" dirty="0"/>
          </a:p>
        </p:txBody>
      </p:sp>
      <p:sp>
        <p:nvSpPr>
          <p:cNvPr id="30" name="Text 28"/>
          <p:cNvSpPr/>
          <p:nvPr/>
        </p:nvSpPr>
        <p:spPr>
          <a:xfrm>
            <a:off x="1005840" y="5934456"/>
            <a:ext cx="10058400" cy="228600"/>
          </a:xfrm>
          <a:prstGeom prst="rect">
            <a:avLst/>
          </a:prstGeom>
          <a:noFill/>
          <a:ln/>
        </p:spPr>
        <p:txBody>
          <a:bodyPr wrap="square" lIns="0" tIns="0" rIns="0" bIns="0" rtlCol="0" anchor="ctr"/>
          <a:lstStyle/>
          <a:p>
            <a:pPr indent="0" marL="0">
              <a:buNone/>
            </a:pPr>
            <a:r>
              <a:rPr lang="en-US" sz="950" dirty="0">
                <a:solidFill>
                  <a:srgbClr val="3E4D44"/>
                </a:solidFill>
                <a:latin typeface="Calibri" pitchFamily="34" charset="0"/>
                <a:ea typeface="Calibri" pitchFamily="34" charset="-122"/>
                <a:cs typeface="Calibri" pitchFamily="34" charset="-120"/>
              </a:rPr>
              <a:t>Graduated with high honors. Authored published research on IoT smart parking in Technologia: Jurnal Ilmiah. Best Team Award at Informatics Expo.</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510"/>
        </a:solidFill>
      </p:bgPr>
    </p:bg>
    <p:spTree>
      <p:nvGrpSpPr>
        <p:cNvPr id="1" name=""/>
        <p:cNvGrpSpPr/>
        <p:nvPr/>
      </p:nvGrpSpPr>
      <p:grpSpPr>
        <a:xfrm>
          <a:off x="0" y="0"/>
          <a:ext cx="0" cy="0"/>
          <a:chOff x="0" y="0"/>
          <a:chExt cx="0" cy="0"/>
        </a:xfrm>
      </p:grpSpPr>
      <p:sp>
        <p:nvSpPr>
          <p:cNvPr id="2" name="Shape 0"/>
          <p:cNvSpPr/>
          <p:nvPr/>
        </p:nvSpPr>
        <p:spPr>
          <a:xfrm>
            <a:off x="731520" y="475488"/>
            <a:ext cx="2560320" cy="292608"/>
          </a:xfrm>
          <a:prstGeom prst="roundRect">
            <a:avLst>
              <a:gd name="adj" fmla="val 50000"/>
            </a:avLst>
          </a:prstGeom>
          <a:solidFill>
            <a:srgbClr val="193427"/>
          </a:solidFill>
          <a:ln w="12700">
            <a:solidFill>
              <a:srgbClr val="2A523E"/>
            </a:solidFill>
            <a:prstDash val="solid"/>
          </a:ln>
        </p:spPr>
      </p:sp>
      <p:sp>
        <p:nvSpPr>
          <p:cNvPr id="3" name="Text 1"/>
          <p:cNvSpPr/>
          <p:nvPr/>
        </p:nvSpPr>
        <p:spPr>
          <a:xfrm>
            <a:off x="731520" y="475488"/>
            <a:ext cx="2560320" cy="292608"/>
          </a:xfrm>
          <a:prstGeom prst="rect">
            <a:avLst/>
          </a:prstGeom>
          <a:noFill/>
          <a:ln/>
        </p:spPr>
        <p:txBody>
          <a:bodyPr wrap="square" lIns="0" tIns="0" rIns="0" bIns="0" rtlCol="0" anchor="ctr"/>
          <a:lstStyle/>
          <a:p>
            <a:pPr algn="ctr" indent="0" marL="0">
              <a:buNone/>
            </a:pPr>
            <a:r>
              <a:rPr lang="en-US" sz="900" b="1" dirty="0">
                <a:solidFill>
                  <a:srgbClr val="6EE7B7"/>
                </a:solidFill>
                <a:latin typeface="Calibri" pitchFamily="34" charset="0"/>
                <a:ea typeface="Calibri" pitchFamily="34" charset="-122"/>
                <a:cs typeface="Calibri" pitchFamily="34" charset="-120"/>
              </a:rPr>
              <a:t>10 · GET IN TOUCH</a:t>
            </a:r>
            <a:endParaRPr lang="en-US" sz="900" dirty="0"/>
          </a:p>
        </p:txBody>
      </p:sp>
      <p:sp>
        <p:nvSpPr>
          <p:cNvPr id="4" name="Text 2"/>
          <p:cNvSpPr/>
          <p:nvPr/>
        </p:nvSpPr>
        <p:spPr>
          <a:xfrm>
            <a:off x="10515600" y="475488"/>
            <a:ext cx="914400" cy="292608"/>
          </a:xfrm>
          <a:prstGeom prst="rect">
            <a:avLst/>
          </a:prstGeom>
          <a:noFill/>
          <a:ln/>
        </p:spPr>
        <p:txBody>
          <a:bodyPr wrap="square" lIns="0" tIns="0" rIns="0" bIns="0" rtlCol="0" anchor="ctr"/>
          <a:lstStyle/>
          <a:p>
            <a:pPr algn="r" indent="0" marL="0">
              <a:buNone/>
            </a:pPr>
            <a:r>
              <a:rPr lang="en-US" sz="1000" b="1" dirty="0">
                <a:solidFill>
                  <a:srgbClr val="70857A"/>
                </a:solidFill>
                <a:latin typeface="Calibri" pitchFamily="34" charset="0"/>
                <a:ea typeface="Calibri" pitchFamily="34" charset="-122"/>
                <a:cs typeface="Calibri" pitchFamily="34" charset="-120"/>
              </a:rPr>
              <a:t>11 / 11</a:t>
            </a:r>
            <a:endParaRPr lang="en-US" sz="1000" dirty="0"/>
          </a:p>
        </p:txBody>
      </p:sp>
      <p:sp>
        <p:nvSpPr>
          <p:cNvPr id="5" name="Shape 3"/>
          <p:cNvSpPr/>
          <p:nvPr/>
        </p:nvSpPr>
        <p:spPr>
          <a:xfrm>
            <a:off x="731520" y="1005840"/>
            <a:ext cx="10728655" cy="5212080"/>
          </a:xfrm>
          <a:prstGeom prst="roundRect">
            <a:avLst>
              <a:gd name="adj" fmla="val 3158"/>
            </a:avLst>
          </a:prstGeom>
          <a:solidFill>
            <a:srgbClr val="13261C"/>
          </a:solidFill>
          <a:ln w="12700">
            <a:solidFill>
              <a:srgbClr val="213E2E"/>
            </a:solidFill>
            <a:prstDash val="solid"/>
          </a:ln>
        </p:spPr>
      </p:sp>
      <p:sp>
        <p:nvSpPr>
          <p:cNvPr id="6" name="Shape 4"/>
          <p:cNvSpPr/>
          <p:nvPr/>
        </p:nvSpPr>
        <p:spPr>
          <a:xfrm>
            <a:off x="1188720" y="1371600"/>
            <a:ext cx="3200400" cy="320040"/>
          </a:xfrm>
          <a:prstGeom prst="roundRect">
            <a:avLst>
              <a:gd name="adj" fmla="val 48571"/>
            </a:avLst>
          </a:prstGeom>
          <a:solidFill>
            <a:srgbClr val="183426"/>
          </a:solidFill>
          <a:ln w="12700">
            <a:solidFill>
              <a:srgbClr val="28553E"/>
            </a:solidFill>
            <a:prstDash val="solid"/>
          </a:ln>
        </p:spPr>
      </p:sp>
      <p:sp>
        <p:nvSpPr>
          <p:cNvPr id="7" name="Text 5"/>
          <p:cNvSpPr/>
          <p:nvPr/>
        </p:nvSpPr>
        <p:spPr>
          <a:xfrm>
            <a:off x="1188720" y="1371600"/>
            <a:ext cx="3200400" cy="320040"/>
          </a:xfrm>
          <a:prstGeom prst="rect">
            <a:avLst/>
          </a:prstGeom>
          <a:noFill/>
          <a:ln/>
        </p:spPr>
        <p:txBody>
          <a:bodyPr wrap="square" lIns="0" tIns="0" rIns="0" bIns="0" rtlCol="0" anchor="ctr"/>
          <a:lstStyle/>
          <a:p>
            <a:pPr algn="ctr" indent="0" marL="0">
              <a:buNone/>
            </a:pPr>
            <a:r>
              <a:rPr lang="en-US" sz="850" b="1" dirty="0">
                <a:solidFill>
                  <a:srgbClr val="6EE7B7"/>
                </a:solidFill>
                <a:latin typeface="Calibri" pitchFamily="34" charset="0"/>
                <a:ea typeface="Calibri" pitchFamily="34" charset="-122"/>
                <a:cs typeface="Calibri" pitchFamily="34" charset="-120"/>
              </a:rPr>
              <a:t>AVAILABLE FOR ROLES &amp; CONTRACTS · 2026</a:t>
            </a:r>
            <a:endParaRPr lang="en-US" sz="850" dirty="0"/>
          </a:p>
        </p:txBody>
      </p:sp>
      <p:sp>
        <p:nvSpPr>
          <p:cNvPr id="8" name="Text 6"/>
          <p:cNvSpPr/>
          <p:nvPr/>
        </p:nvSpPr>
        <p:spPr>
          <a:xfrm>
            <a:off x="1188720" y="1874520"/>
            <a:ext cx="7315200" cy="6858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Let’s build software that lasts.</a:t>
            </a:r>
            <a:endParaRPr lang="en-US" sz="3400" dirty="0"/>
          </a:p>
        </p:txBody>
      </p:sp>
      <p:sp>
        <p:nvSpPr>
          <p:cNvPr id="9" name="Text 7"/>
          <p:cNvSpPr/>
          <p:nvPr/>
        </p:nvSpPr>
        <p:spPr>
          <a:xfrm>
            <a:off x="1188720" y="2606040"/>
            <a:ext cx="6858000" cy="731520"/>
          </a:xfrm>
          <a:prstGeom prst="rect">
            <a:avLst/>
          </a:prstGeom>
          <a:noFill/>
          <a:ln/>
        </p:spPr>
        <p:txBody>
          <a:bodyPr wrap="square" lIns="0" tIns="0" rIns="0" bIns="0" rtlCol="0" anchor="ctr"/>
          <a:lstStyle/>
          <a:p>
            <a:pPr indent="0" marL="0">
              <a:lnSpc>
                <a:spcPct val="125000"/>
              </a:lnSpc>
              <a:buNone/>
            </a:pPr>
            <a:r>
              <a:rPr lang="en-US" sz="1250" dirty="0">
                <a:solidFill>
                  <a:srgbClr val="A3B8AD"/>
                </a:solidFill>
                <a:latin typeface="Calibri" pitchFamily="34" charset="0"/>
                <a:ea typeface="Calibri" pitchFamily="34" charset="-122"/>
                <a:cs typeface="Calibri" pitchFamily="34" charset="-120"/>
              </a:rPr>
              <a:t>Looking for a junior backend or full-stack developer? I’m eager to learn, contribute, and join a collaborative engineering team.</a:t>
            </a:r>
            <a:endParaRPr lang="en-US" sz="1250" dirty="0"/>
          </a:p>
        </p:txBody>
      </p:sp>
      <p:sp>
        <p:nvSpPr>
          <p:cNvPr id="10" name="Shape 8"/>
          <p:cNvSpPr/>
          <p:nvPr/>
        </p:nvSpPr>
        <p:spPr>
          <a:xfrm>
            <a:off x="1188720" y="3474720"/>
            <a:ext cx="4800600" cy="987552"/>
          </a:xfrm>
          <a:prstGeom prst="roundRect">
            <a:avLst>
              <a:gd name="adj" fmla="val 12963"/>
            </a:avLst>
          </a:prstGeom>
          <a:solidFill>
            <a:srgbClr val="102018"/>
          </a:solidFill>
          <a:ln w="12700">
            <a:solidFill>
              <a:srgbClr val="244533"/>
            </a:solidFill>
            <a:prstDash val="solid"/>
          </a:ln>
        </p:spPr>
      </p:sp>
      <p:sp>
        <p:nvSpPr>
          <p:cNvPr id="11" name="Text 9"/>
          <p:cNvSpPr/>
          <p:nvPr/>
        </p:nvSpPr>
        <p:spPr>
          <a:xfrm>
            <a:off x="1417320" y="3602736"/>
            <a:ext cx="4343400" cy="182880"/>
          </a:xfrm>
          <a:prstGeom prst="rect">
            <a:avLst/>
          </a:prstGeom>
          <a:noFill/>
          <a:ln/>
        </p:spPr>
        <p:txBody>
          <a:bodyPr wrap="square" lIns="0" tIns="0" rIns="0" bIns="0" rtlCol="0" anchor="ctr"/>
          <a:lstStyle/>
          <a:p>
            <a:pPr indent="0" marL="0">
              <a:buNone/>
            </a:pPr>
            <a:r>
              <a:rPr lang="en-US" sz="800" b="1" dirty="0">
                <a:solidFill>
                  <a:srgbClr val="6EE7B7"/>
                </a:solidFill>
                <a:latin typeface="Calibri" pitchFamily="34" charset="0"/>
                <a:ea typeface="Calibri" pitchFamily="34" charset="-122"/>
                <a:cs typeface="Calibri" pitchFamily="34" charset="-120"/>
              </a:rPr>
              <a:t>DIRECT INQUIRY</a:t>
            </a:r>
            <a:endParaRPr lang="en-US" sz="800" dirty="0"/>
          </a:p>
        </p:txBody>
      </p:sp>
      <p:sp>
        <p:nvSpPr>
          <p:cNvPr id="12" name="Text 10"/>
          <p:cNvSpPr/>
          <p:nvPr/>
        </p:nvSpPr>
        <p:spPr>
          <a:xfrm>
            <a:off x="1417320" y="3822192"/>
            <a:ext cx="43434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reikyranp@gmail.com</a:t>
            </a:r>
            <a:endParaRPr lang="en-US" sz="1300" dirty="0"/>
          </a:p>
        </p:txBody>
      </p:sp>
      <p:sp>
        <p:nvSpPr>
          <p:cNvPr id="13" name="Text 11"/>
          <p:cNvSpPr/>
          <p:nvPr/>
        </p:nvSpPr>
        <p:spPr>
          <a:xfrm>
            <a:off x="1417320" y="4133088"/>
            <a:ext cx="4343400" cy="201168"/>
          </a:xfrm>
          <a:prstGeom prst="rect">
            <a:avLst/>
          </a:prstGeom>
          <a:noFill/>
          <a:ln/>
        </p:spPr>
        <p:txBody>
          <a:bodyPr wrap="square" lIns="0" tIns="0" rIns="0" bIns="0" rtlCol="0" anchor="ctr"/>
          <a:lstStyle/>
          <a:p>
            <a:pPr indent="0" marL="0">
              <a:buNone/>
            </a:pPr>
            <a:r>
              <a:rPr lang="en-US" sz="850" dirty="0">
                <a:solidFill>
                  <a:srgbClr val="70857A"/>
                </a:solidFill>
                <a:latin typeface="Calibri" pitchFamily="34" charset="0"/>
                <a:ea typeface="Calibri" pitchFamily="34" charset="-122"/>
                <a:cs typeface="Calibri" pitchFamily="34" charset="-120"/>
              </a:rPr>
              <a:t>Fast response · Primary communication channel</a:t>
            </a:r>
            <a:endParaRPr lang="en-US" sz="850" dirty="0"/>
          </a:p>
        </p:txBody>
      </p:sp>
      <p:sp>
        <p:nvSpPr>
          <p:cNvPr id="14" name="Shape 12"/>
          <p:cNvSpPr/>
          <p:nvPr/>
        </p:nvSpPr>
        <p:spPr>
          <a:xfrm>
            <a:off x="6309360" y="3474720"/>
            <a:ext cx="4800600" cy="987552"/>
          </a:xfrm>
          <a:prstGeom prst="roundRect">
            <a:avLst>
              <a:gd name="adj" fmla="val 12963"/>
            </a:avLst>
          </a:prstGeom>
          <a:solidFill>
            <a:srgbClr val="102018"/>
          </a:solidFill>
          <a:ln w="12700">
            <a:solidFill>
              <a:srgbClr val="244533"/>
            </a:solidFill>
            <a:prstDash val="solid"/>
          </a:ln>
        </p:spPr>
      </p:sp>
      <p:sp>
        <p:nvSpPr>
          <p:cNvPr id="15" name="Text 13"/>
          <p:cNvSpPr/>
          <p:nvPr/>
        </p:nvSpPr>
        <p:spPr>
          <a:xfrm>
            <a:off x="6537960" y="3602736"/>
            <a:ext cx="4343400" cy="182880"/>
          </a:xfrm>
          <a:prstGeom prst="rect">
            <a:avLst/>
          </a:prstGeom>
          <a:noFill/>
          <a:ln/>
        </p:spPr>
        <p:txBody>
          <a:bodyPr wrap="square" lIns="0" tIns="0" rIns="0" bIns="0" rtlCol="0" anchor="ctr"/>
          <a:lstStyle/>
          <a:p>
            <a:pPr indent="0" marL="0">
              <a:buNone/>
            </a:pPr>
            <a:r>
              <a:rPr lang="en-US" sz="800" b="1" dirty="0">
                <a:solidFill>
                  <a:srgbClr val="6EE7B7"/>
                </a:solidFill>
                <a:latin typeface="Calibri" pitchFamily="34" charset="0"/>
                <a:ea typeface="Calibri" pitchFamily="34" charset="-122"/>
                <a:cs typeface="Calibri" pitchFamily="34" charset="-120"/>
              </a:rPr>
              <a:t>PROFESSIONAL NETWORK</a:t>
            </a:r>
            <a:endParaRPr lang="en-US" sz="800" dirty="0"/>
          </a:p>
        </p:txBody>
      </p:sp>
      <p:sp>
        <p:nvSpPr>
          <p:cNvPr id="16" name="Text 14"/>
          <p:cNvSpPr/>
          <p:nvPr/>
        </p:nvSpPr>
        <p:spPr>
          <a:xfrm>
            <a:off x="6537960" y="3822192"/>
            <a:ext cx="43434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linkedin.com/in/reikypratama</a:t>
            </a:r>
            <a:endParaRPr lang="en-US" sz="1300" dirty="0"/>
          </a:p>
        </p:txBody>
      </p:sp>
      <p:sp>
        <p:nvSpPr>
          <p:cNvPr id="17" name="Text 15"/>
          <p:cNvSpPr/>
          <p:nvPr/>
        </p:nvSpPr>
        <p:spPr>
          <a:xfrm>
            <a:off x="6537960" y="4133088"/>
            <a:ext cx="4343400" cy="201168"/>
          </a:xfrm>
          <a:prstGeom prst="rect">
            <a:avLst/>
          </a:prstGeom>
          <a:noFill/>
          <a:ln/>
        </p:spPr>
        <p:txBody>
          <a:bodyPr wrap="square" lIns="0" tIns="0" rIns="0" bIns="0" rtlCol="0" anchor="ctr"/>
          <a:lstStyle/>
          <a:p>
            <a:pPr indent="0" marL="0">
              <a:buNone/>
            </a:pPr>
            <a:r>
              <a:rPr lang="en-US" sz="850" dirty="0">
                <a:solidFill>
                  <a:srgbClr val="70857A"/>
                </a:solidFill>
                <a:latin typeface="Calibri" pitchFamily="34" charset="0"/>
                <a:ea typeface="Calibri" pitchFamily="34" charset="-122"/>
                <a:cs typeface="Calibri" pitchFamily="34" charset="-120"/>
              </a:rPr>
              <a:t>Connect on LinkedIn for career discussions</a:t>
            </a:r>
            <a:endParaRPr lang="en-US" sz="850" dirty="0"/>
          </a:p>
        </p:txBody>
      </p:sp>
      <p:sp>
        <p:nvSpPr>
          <p:cNvPr id="18" name="Shape 16"/>
          <p:cNvSpPr/>
          <p:nvPr/>
        </p:nvSpPr>
        <p:spPr>
          <a:xfrm>
            <a:off x="1188720" y="4617720"/>
            <a:ext cx="4800600" cy="987552"/>
          </a:xfrm>
          <a:prstGeom prst="roundRect">
            <a:avLst>
              <a:gd name="adj" fmla="val 12963"/>
            </a:avLst>
          </a:prstGeom>
          <a:solidFill>
            <a:srgbClr val="102018"/>
          </a:solidFill>
          <a:ln w="12700">
            <a:solidFill>
              <a:srgbClr val="244533"/>
            </a:solidFill>
            <a:prstDash val="solid"/>
          </a:ln>
        </p:spPr>
      </p:sp>
      <p:sp>
        <p:nvSpPr>
          <p:cNvPr id="19" name="Text 17"/>
          <p:cNvSpPr/>
          <p:nvPr/>
        </p:nvSpPr>
        <p:spPr>
          <a:xfrm>
            <a:off x="1417320" y="4745736"/>
            <a:ext cx="4343400" cy="182880"/>
          </a:xfrm>
          <a:prstGeom prst="rect">
            <a:avLst/>
          </a:prstGeom>
          <a:noFill/>
          <a:ln/>
        </p:spPr>
        <p:txBody>
          <a:bodyPr wrap="square" lIns="0" tIns="0" rIns="0" bIns="0" rtlCol="0" anchor="ctr"/>
          <a:lstStyle/>
          <a:p>
            <a:pPr indent="0" marL="0">
              <a:buNone/>
            </a:pPr>
            <a:r>
              <a:rPr lang="en-US" sz="800" b="1" dirty="0">
                <a:solidFill>
                  <a:srgbClr val="6EE7B7"/>
                </a:solidFill>
                <a:latin typeface="Calibri" pitchFamily="34" charset="0"/>
                <a:ea typeface="Calibri" pitchFamily="34" charset="-122"/>
                <a:cs typeface="Calibri" pitchFamily="34" charset="-120"/>
              </a:rPr>
              <a:t>OPEN SOURCE CODE</a:t>
            </a:r>
            <a:endParaRPr lang="en-US" sz="800" dirty="0"/>
          </a:p>
        </p:txBody>
      </p:sp>
      <p:sp>
        <p:nvSpPr>
          <p:cNvPr id="20" name="Text 18"/>
          <p:cNvSpPr/>
          <p:nvPr/>
        </p:nvSpPr>
        <p:spPr>
          <a:xfrm>
            <a:off x="1417320" y="4965192"/>
            <a:ext cx="43434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github.com/reiky03</a:t>
            </a:r>
            <a:endParaRPr lang="en-US" sz="1300" dirty="0"/>
          </a:p>
        </p:txBody>
      </p:sp>
      <p:sp>
        <p:nvSpPr>
          <p:cNvPr id="21" name="Text 19"/>
          <p:cNvSpPr/>
          <p:nvPr/>
        </p:nvSpPr>
        <p:spPr>
          <a:xfrm>
            <a:off x="1417320" y="5276088"/>
            <a:ext cx="4343400" cy="201168"/>
          </a:xfrm>
          <a:prstGeom prst="rect">
            <a:avLst/>
          </a:prstGeom>
          <a:noFill/>
          <a:ln/>
        </p:spPr>
        <p:txBody>
          <a:bodyPr wrap="square" lIns="0" tIns="0" rIns="0" bIns="0" rtlCol="0" anchor="ctr"/>
          <a:lstStyle/>
          <a:p>
            <a:pPr indent="0" marL="0">
              <a:buNone/>
            </a:pPr>
            <a:r>
              <a:rPr lang="en-US" sz="850" dirty="0">
                <a:solidFill>
                  <a:srgbClr val="70857A"/>
                </a:solidFill>
                <a:latin typeface="Calibri" pitchFamily="34" charset="0"/>
                <a:ea typeface="Calibri" pitchFamily="34" charset="-122"/>
                <a:cs typeface="Calibri" pitchFamily="34" charset="-120"/>
              </a:rPr>
              <a:t>Explore full repositories, commits &amp; architectures</a:t>
            </a:r>
            <a:endParaRPr lang="en-US" sz="850" dirty="0"/>
          </a:p>
        </p:txBody>
      </p:sp>
      <p:sp>
        <p:nvSpPr>
          <p:cNvPr id="22" name="Shape 20"/>
          <p:cNvSpPr/>
          <p:nvPr/>
        </p:nvSpPr>
        <p:spPr>
          <a:xfrm>
            <a:off x="6309360" y="4617720"/>
            <a:ext cx="4800600" cy="987552"/>
          </a:xfrm>
          <a:prstGeom prst="roundRect">
            <a:avLst>
              <a:gd name="adj" fmla="val 12963"/>
            </a:avLst>
          </a:prstGeom>
          <a:solidFill>
            <a:srgbClr val="102018"/>
          </a:solidFill>
          <a:ln w="12700">
            <a:solidFill>
              <a:srgbClr val="244533"/>
            </a:solidFill>
            <a:prstDash val="solid"/>
          </a:ln>
        </p:spPr>
      </p:sp>
      <p:sp>
        <p:nvSpPr>
          <p:cNvPr id="23" name="Text 21"/>
          <p:cNvSpPr/>
          <p:nvPr/>
        </p:nvSpPr>
        <p:spPr>
          <a:xfrm>
            <a:off x="6537960" y="4745736"/>
            <a:ext cx="4343400" cy="182880"/>
          </a:xfrm>
          <a:prstGeom prst="rect">
            <a:avLst/>
          </a:prstGeom>
          <a:noFill/>
          <a:ln/>
        </p:spPr>
        <p:txBody>
          <a:bodyPr wrap="square" lIns="0" tIns="0" rIns="0" bIns="0" rtlCol="0" anchor="ctr"/>
          <a:lstStyle/>
          <a:p>
            <a:pPr indent="0" marL="0">
              <a:buNone/>
            </a:pPr>
            <a:r>
              <a:rPr lang="en-US" sz="800" b="1" dirty="0">
                <a:solidFill>
                  <a:srgbClr val="6EE7B7"/>
                </a:solidFill>
                <a:latin typeface="Calibri" pitchFamily="34" charset="0"/>
                <a:ea typeface="Calibri" pitchFamily="34" charset="-122"/>
                <a:cs typeface="Calibri" pitchFamily="34" charset="-120"/>
              </a:rPr>
              <a:t>ONLINE PORTFOLIO &amp; CV</a:t>
            </a:r>
            <a:endParaRPr lang="en-US" sz="800" dirty="0"/>
          </a:p>
        </p:txBody>
      </p:sp>
      <p:sp>
        <p:nvSpPr>
          <p:cNvPr id="24" name="Text 22"/>
          <p:cNvSpPr/>
          <p:nvPr/>
        </p:nvSpPr>
        <p:spPr>
          <a:xfrm>
            <a:off x="6537960" y="4965192"/>
            <a:ext cx="43434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https://reiky03.github.io</a:t>
            </a:r>
            <a:endParaRPr lang="en-US" sz="1300" dirty="0"/>
          </a:p>
        </p:txBody>
      </p:sp>
      <p:sp>
        <p:nvSpPr>
          <p:cNvPr id="25" name="Text 23"/>
          <p:cNvSpPr/>
          <p:nvPr/>
        </p:nvSpPr>
        <p:spPr>
          <a:xfrm>
            <a:off x="6537960" y="5276088"/>
            <a:ext cx="4343400" cy="201168"/>
          </a:xfrm>
          <a:prstGeom prst="rect">
            <a:avLst/>
          </a:prstGeom>
          <a:noFill/>
          <a:ln/>
        </p:spPr>
        <p:txBody>
          <a:bodyPr wrap="square" lIns="0" tIns="0" rIns="0" bIns="0" rtlCol="0" anchor="ctr"/>
          <a:lstStyle/>
          <a:p>
            <a:pPr indent="0" marL="0">
              <a:buNone/>
            </a:pPr>
            <a:r>
              <a:rPr lang="en-US" sz="850" dirty="0">
                <a:solidFill>
                  <a:srgbClr val="70857A"/>
                </a:solidFill>
                <a:latin typeface="Calibri" pitchFamily="34" charset="0"/>
                <a:ea typeface="Calibri" pitchFamily="34" charset="-122"/>
                <a:cs typeface="Calibri" pitchFamily="34" charset="-120"/>
              </a:rPr>
              <a:t>Interactive web portfolio &amp; official downloadable CV</a:t>
            </a:r>
            <a:endParaRPr lang="en-US" sz="850" dirty="0"/>
          </a:p>
        </p:txBody>
      </p:sp>
      <p:sp>
        <p:nvSpPr>
          <p:cNvPr id="26" name="Text 24"/>
          <p:cNvSpPr/>
          <p:nvPr/>
        </p:nvSpPr>
        <p:spPr>
          <a:xfrm>
            <a:off x="1188720" y="5852160"/>
            <a:ext cx="9784080" cy="228600"/>
          </a:xfrm>
          <a:prstGeom prst="rect">
            <a:avLst/>
          </a:prstGeom>
          <a:noFill/>
          <a:ln/>
        </p:spPr>
        <p:txBody>
          <a:bodyPr wrap="square" lIns="0" tIns="0" rIns="0" bIns="0" rtlCol="0" anchor="ctr"/>
          <a:lstStyle/>
          <a:p>
            <a:pPr indent="0" marL="0">
              <a:buNone/>
            </a:pPr>
            <a:r>
              <a:rPr lang="en-US" sz="850" dirty="0">
                <a:solidFill>
                  <a:srgbClr val="70857A"/>
                </a:solidFill>
                <a:latin typeface="Calibri" pitchFamily="34" charset="0"/>
                <a:ea typeface="Calibri" pitchFamily="34" charset="-122"/>
                <a:cs typeface="Calibri" pitchFamily="34" charset="-120"/>
              </a:rPr>
              <a:t>© 2026 Reiky Aryanando Pratama · Handcrafted with precision &amp; discipline · Yogyakarta, Indonesia</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Reiky Aryanando Pratama - Portfolio &amp; Engineering Presentation</dc:title>
  <dc:subject>Backend &amp; Full-Stack Developer Portfolio</dc:subject>
  <dc:creator>Reiky Aryanando Pratama</dc:creator>
  <cp:lastModifiedBy>Reiky Aryanando Pratama</cp:lastModifiedBy>
  <cp:revision>1</cp:revision>
  <dcterms:created xsi:type="dcterms:W3CDTF">2026-10-30T06:21:26Z</dcterms:created>
  <dcterms:modified xsi:type="dcterms:W3CDTF">2026-10-30T06:21:26Z</dcterms:modified>
</cp:coreProperties>
</file>